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00b72c99-8a72-6ddc-ad10-a56bd0e77a7a}">
          <p14:sldIdLst>
            <p14:sldId id="256"/>
            <p14:sldId id="257"/>
            <p14:sldId id="258"/>
          </p14:sldIdLst>
        </p14:section>
        <p14:section name="技術調查與方案比較" id="{b5954f5e-4a6f-d62b-3b4e-d7c842f3999d}">
          <p14:sldIdLst>
            <p14:sldId id="259"/>
            <p14:sldId id="260"/>
          </p14:sldIdLst>
        </p14:section>
        <p14:section name="建議架構" id="{18725954-df25-81b8-7537-e2db6a0734bd}">
          <p14:sldIdLst>
            <p14:sldId id="261"/>
            <p14:sldId id="262"/>
            <p14:sldId id="263"/>
            <p14:sldId id="264"/>
          </p14:sldIdLst>
        </p14:section>
        <p14:section name="版本可視化與治理" id="{809555e0-52f3-0e3a-10e7-d18d564de5bd}">
          <p14:sldIdLst>
            <p14:sldId id="265"/>
            <p14:sldId id="266"/>
          </p14:sldIdLst>
        </p14:section>
        <p14:section name="POC 與計畫" id="{096a6eb7-4931-798c-0985-fef749b661a7}">
          <p14:sldIdLst>
            <p14:sldId id="267"/>
            <p14:sldId id="268"/>
            <p14:sldId id="269"/>
            <p14:sldId id="270"/>
          </p14:sldIdLst>
        </p14:section>
        <p14:section name="Demo 與下一步" id="{60016fed-b9db-3832-e75f-7b8f6a8f990d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大家好，今天報告「Copilot Skills 課級共用與集中管理機制」的研究結果和 POC。
我會依序說明：現況問題、技術調查、方案比較、建議架構、版本可視化，最後是 POC 進度、時程和需要的支援，最後有一段實際操作 Demo。
整體大約 20 分鐘，Demo 約 8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先講結論。整個方案是四個動作串起來：
第一，GitLab 上建一個共用 repo，是唯一來源，維護者打 tag 才算正式發版。
第二，每台電腦有一支同步程式，登入時和每天自動把最新版同步下來，不用大家手動更新。
第三，同步到的位置是 VS 和 VS Code 都會讀的使用者目錄，所以一份 skill 兩個 IDE、所有專案都能用。
第四，每台電腦同步完會回報版本，儀表板就能看出誰落後、誰同步失敗、誰沒安裝。
POC 的程式已經寫好，在模擬環境跑過 60 項情境測試全部通過，接下來要在公司電腦上實測。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目前大家用 Copilot skills 的狀況有三個問題。
一是各自安裝：每個人自己找、自己裝，新人不知道有哪些可以用。
二是重複維護：同一份規範可能同時存在好幾個專案和好幾台電腦裡，改一次要改很多地方。
三是版本不一致：現在沒有辦法知道誰用的是哪一版、誰還沒更新。
所以這次研究有四個目標（念右邊四項），最後要提出適合 CIM 課的架構，並展示一套能實際運作的自動同步方案。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技術調查最關鍵的是：VS Code 和 Visual Studio 會從哪裡讀 skill。
兩邊都支援專案層級（放在 repo 的 .github/skills）和個人層級（放在使用者目錄的 .copilot/skills）。
個人層級是唯一跨兩個 IDE、又跨所有專案的位置，所以整個架構以它為核心。
另外兩個發現：VS Code 可以設定額外路徑，但 Visual Studio 沒有，所以不能用「設定指向共用資料夾」的方式，必須把檔案實際放進去。
第三，目前官方沒有組織層級派送 skill 的機制，Visual Studio 團隊也說要等 GitHub 支援後才會評估；而且我們用的是內部 GitLab，所以派送和版本管理必須自己做。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我們比較了五種做法。
A 是每個專案自己放，跟程式碼一起版控，但同一份規範要複製到很多專案，也無法知道誰用哪一版。
B 是集中在 GitLab，再自動同步到每個人的使用者目錄，這是唯一在所有項目都打圈的方案，特別是「知道誰沒更新」。
C 是用 git submodule 掛到每個專案，管理成本高。
D 是 VS Code 的 Agent Plugins 市集，介面不錯，但還是預覽功能，而且 Visual Studio 不支援。
E 是放網路磁碟再建符號連結，看起來最簡單，但需要特殊權限、離線就不能用，也沒辦法回滾。
建議 B 為主、A 為輔；D 每季觀察，等正式化、VS 也支援時再評估。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具體的架構是分三層。
第一層是課級共用，放在 GitLab 共用 repo，自動同步到每個人電腦，由 Skills 維護小組負責，例如程式規範、commit 規範、code review 清單。
第二層是專案專屬，放在專案自己的 .github/skills，跟著程式碼走，例如這個系統的部署步驟。
第三層是個人，放在自己的使用者目錄，只要名稱不加 cim- 前綴，同步程式就不會動它。
判斷原則很簡單：只跟一個專案有關就放專案；全課都會用就進共用 repo；還在試驗就先放個人，用得順再發 MR。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這是整體架構，上排是 skill 的流向，下排是版本資訊的流向。
上排：GitLab 是唯一來源，每台電腦的同步程式只拉已經發版的 tag，比對內容後複製到使用者目錄的 .copilot/skills，VS 和 VS Code 都從這裡讀。
下排：同步程式每次執行完都回報一份心跳，寫到共用資料夾或 HTTP 服務，每天自動彙整成儀表板，就能看出誰落後、誰失敗、誰沒安裝。
整套不需要系統管理員權限，也不依賴任何預覽功能。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同步程式每次執行做六件事。
先取得鎖，避免登入和每日排程撞在一起時同時跑兩個。
接著 git fetch，如果連不上 GitLab，例如在家沒連 VPN，就保留現有版本，並回報同步失敗。
決定要裝哪一版：預設是最新的正式 tag；維護者可以用 beta 頻道試 main；排查問題時可以釘選舊版。
然後用 hash 比對，只動真的有變的 skill。
如果發現有人在本機改了共用 skill，會先備份再還原成官方版本；沒有 cim- 前綴的個人 skill 完全不碰。
最後回報心跳。執行時機是登入後兩分鐘、每天早上，以及隨時手動，全程不需要系統管理員權限。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實務上一定會遇到各種狀況，POC 都有設計對應的處理，也都測過。
有人在本機改了共用 skill：會備份起來，還原官方版本，並在儀表板上標示，我們可以了解他想改什麼，也許值得發 MR。
上游改名或刪除 skill：每台電腦會自動移除舊的、加入新的。
GitLab 連不上：保留現有版本照常使用，連上後自動更新。
個人 skill：不會被動到。
需要回滾：全課層級是發一個修正版，不刪 tag；個人可以暫時釘選舊版。
同步程式本身有更新：會跟著 tag 自動更新，不用大家重裝。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這頁回答「怎麼知道誰沒更新」。
GitLab 只看得到誰存取過 repo，看不到每台電腦實際裝哪一版，所以改成每台電腦每次同步完主動回報一份心跳，內容有帳號、電腦、版本、同步狀態、有沒有被本機修改，以及 IDE 版本。
再搭配一份成員名單，連完全沒安裝的人也找得出來。
右邊是儀表板的示意畫面，依嚴重度排序：未安裝、同步失敗、落後、太久沒回報、刻意釘選、最新。每天自動產生，主管打開共用資料夾的 HTML 就能看，也可以匯出 CSV。
收集的資料只有帳號、電腦名稱、版本和狀態，不包含任何程式碼或對話內容。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共用 skill 等於發佈到每個人的電腦，所以一定要有流程。
任何人都可以開分支修改，先在自己的 IDE 測試，再發 MR。
MR 會自動跑 CI，檢查格式、命名，也會掃描有沒有寫入密碼或 token。
由 CODEOWNERS 或維護者審核後合併到 main，先給 beta 頻道的人試用一到三天。
沒問題再打 tag 正式發版，全課下次同步就會自動更新，同時在課內公告重點。
權限上，全課只需要 Reporter 讀取權限就能同步；main 和 tag 都設保護，只有維護者能發版。版本號遵循 SemVer。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 的程式已經完成，包含同步、安裝、移除、儀表板、CI 檢查和三個範例 skill，一共 18 個檔案。
我在模擬環境用一個本機 Git repo 當作 GitLab，跑了 60 項自動化情境測試，全部通過；也用工具檢查過和 Windows 內建的 PowerShell 5.1 相容。
還沒驗證的是需要公司環境的部分：工作排程器、GitLab 登入、共用資料夾寫入，以及最重要的——IDE 實際讀不讀得到，特別是 VS 2022 有沒有支援。這些排在第一週。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 用五個指標驗收。
新成員五分鐘內裝好，不需要管理員權限；發版後 24 小時內，有開機的電腦九成以上更新完成；儀表板能看到百分之百成員的狀態，包含沒裝的人；出問題時一個工作天內全課回滾；兩週試行期間，不能有任何一次因為同步造成開發中斷。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時程抓五週。
第一週最重要，先把前提確認清楚：問 IT 能不能執行腳本和排程、盤點大家的 IDE 版本，並實機確認 IDE 讀得到 skill，特別是 VS 2022。
第二週建立 GitLab repo 和權限，放進兩三個課內真正需要的 skill，發第一版。
第三週在自己的電腦跑完 19 項測試案例，依公司環境調整。
第四週架好心跳收集和儀表板，找三到五位同仁試用。
第五週在試行期間發版兩次、做一次回滾演練，然後整理報告和 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五個主要風險。
最大的是 VS 2022：官方文件目前寫的都是 VS 2026，如果課內還有不少人用 VS 2022，第一週要先實測。不支援的話，評估升級時程，或先把最關鍵的規範放進 copilot-instructions.md 當過渡。
第二、三個是公司環境：PowerShell 腳本和背景程式可能被群組原則或防毒擋住，所以第一週就要問 IT。
第四個是 GitLab 憑證過期，會讓某些人一直沒更新，但這正好是儀表板能抓出來的。
最後是 skill 本身的品質，用 MR 審核和 beta 試用期來把關。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 Demo，照這八個步驟：
1. 在乾淨的電腦執行安裝程式。
2. 在 VS Code 輸入 /skills 確認看得到，請它寫 commit message。
3. 切到 Visual Studio 問同樣的問題，證明是同一份 skill。
4. 在 GitLab 合併一個 MR、打 tag。
5. 手動觸發排程，看日誌顯示更新。
6. 打開儀表板，看落後、失敗、未安裝的人。
7. 在本機故意改一個共用 skill 再同步，看它被還原、備份並回報。
8. 最後示範釘選版本回滾。
（Demo 前準備：一台乾淨的測試電腦或測試帳號、GitLab repo 已發 v1.0.0、準備好 v1.1.0 的 MR、儀表板預先放幾份不同狀態的心跳。）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最後是需要的支援：指定兩到三位維護者；一個全課可以寫入的共用資料夾，或一台內部小伺服器收集心跳；建立 GitLab 專案；三到五位試行成員，VS 和 VS Code 的使用者都要有；以及請 IT 確認 PowerShell、排程和防毒的規定。
如果今天核准，第一週就開始做前提驗證，第五週回報試行結果和正式導入建議。
以上，請大家指教。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73152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CIM 課｜Copilot Skills 共用機制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Copilot Skills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課級共用與集中管理機制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研究結果與 POC 提案</a:t>
            </a:r>
            <a:endParaRPr lang="en-US" sz="20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1"/>
                </a:solidFill>
              </a:rPr>
              <a:t>CIM 課｜2026 年 10 月</a:t>
            </a:r>
            <a:endParaRPr lang="zh-TW" sz="1400" dirty="0"/>
          </a:p>
        </p:txBody>
      </p:sp>
      <p:pic>
        <p:nvPicPr>
          <p:cNvPr id="5" name="deco-icon-2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360920" y="3429000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一頁看懂建議方案</a:t>
            </a:r>
            <a:endParaRPr lang="en-US" sz="2800" dirty="0"/>
          </a:p>
        </p:txBody>
      </p:sp>
      <p:sp>
        <p:nvSpPr>
          <p:cNvPr id="3" name="card-3"/>
          <p:cNvSpPr/>
          <p:nvPr/>
        </p:nvSpPr>
        <p:spPr>
          <a:xfrm>
            <a:off x="457200" y="1188720"/>
            <a:ext cx="1783080" cy="233172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4"/>
          <p:cNvSpPr/>
          <p:nvPr/>
        </p:nvSpPr>
        <p:spPr>
          <a:xfrm>
            <a:off x="100584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627632"/>
            <a:ext cx="356616" cy="356616"/>
          </a:xfrm>
          <a:prstGeom prst="rect">
            <a:avLst/>
          </a:prstGeom>
        </p:spPr>
      </p:pic>
      <p:sp>
        <p:nvSpPr>
          <p:cNvPr id="6" name="text-6"/>
          <p:cNvSpPr txBox="1"/>
          <p:nvPr/>
        </p:nvSpPr>
        <p:spPr>
          <a:xfrm>
            <a:off x="59436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GitLab 發版</a:t>
            </a:r>
            <a:endParaRPr lang="zh-TW" sz="1600" dirty="0"/>
          </a:p>
        </p:txBody>
      </p:sp>
      <p:sp>
        <p:nvSpPr>
          <p:cNvPr id="7" name="text-7"/>
          <p:cNvSpPr txBox="1"/>
          <p:nvPr/>
        </p:nvSpPr>
        <p:spPr>
          <a:xfrm>
            <a:off x="621792" y="26974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共用 repo 是唯一來源，打 tag 才會發佈</a:t>
            </a:r>
            <a:endParaRPr lang="zh-TW" sz="1300" dirty="0"/>
          </a:p>
        </p:txBody>
      </p:sp>
      <p:sp>
        <p:nvSpPr>
          <p:cNvPr id="8" name="arrow-8"/>
          <p:cNvSpPr/>
          <p:nvPr/>
        </p:nvSpPr>
        <p:spPr>
          <a:xfrm>
            <a:off x="2295144" y="1810512"/>
            <a:ext cx="25603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card-9"/>
          <p:cNvSpPr/>
          <p:nvPr/>
        </p:nvSpPr>
        <p:spPr>
          <a:xfrm>
            <a:off x="2606040" y="1188720"/>
            <a:ext cx="1783080" cy="233172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bg-10"/>
          <p:cNvSpPr/>
          <p:nvPr/>
        </p:nvSpPr>
        <p:spPr>
          <a:xfrm>
            <a:off x="315468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627632"/>
            <a:ext cx="356616" cy="356616"/>
          </a:xfrm>
          <a:prstGeom prst="rect">
            <a:avLst/>
          </a:prstGeom>
        </p:spPr>
      </p:pic>
      <p:sp>
        <p:nvSpPr>
          <p:cNvPr id="12" name="text-12"/>
          <p:cNvSpPr txBox="1"/>
          <p:nvPr/>
        </p:nvSpPr>
        <p:spPr>
          <a:xfrm>
            <a:off x="274320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自動同步</a:t>
            </a:r>
            <a:endParaRPr lang="zh-TW" sz="1600" dirty="0"/>
          </a:p>
        </p:txBody>
      </p:sp>
      <p:sp>
        <p:nvSpPr>
          <p:cNvPr id="13" name="text-13"/>
          <p:cNvSpPr txBox="1"/>
          <p:nvPr/>
        </p:nvSpPr>
        <p:spPr>
          <a:xfrm>
            <a:off x="2770632" y="26974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登入時與每天自動同步到每個人的電腦</a:t>
            </a:r>
            <a:endParaRPr lang="zh-TW" sz="1300" dirty="0"/>
          </a:p>
        </p:txBody>
      </p:sp>
      <p:sp>
        <p:nvSpPr>
          <p:cNvPr id="14" name="arrow-14"/>
          <p:cNvSpPr/>
          <p:nvPr/>
        </p:nvSpPr>
        <p:spPr>
          <a:xfrm>
            <a:off x="4443984" y="1810512"/>
            <a:ext cx="25603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card-15"/>
          <p:cNvSpPr/>
          <p:nvPr/>
        </p:nvSpPr>
        <p:spPr>
          <a:xfrm>
            <a:off x="4754880" y="1188720"/>
            <a:ext cx="1783080" cy="233172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bg-16"/>
          <p:cNvSpPr/>
          <p:nvPr/>
        </p:nvSpPr>
        <p:spPr>
          <a:xfrm>
            <a:off x="530352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627632"/>
            <a:ext cx="356616" cy="356616"/>
          </a:xfrm>
          <a:prstGeom prst="rect">
            <a:avLst/>
          </a:prstGeom>
        </p:spPr>
      </p:pic>
      <p:sp>
        <p:nvSpPr>
          <p:cNvPr id="18" name="text-18"/>
          <p:cNvSpPr txBox="1"/>
          <p:nvPr/>
        </p:nvSpPr>
        <p:spPr>
          <a:xfrm>
            <a:off x="489204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兩個 IDE 共用</a:t>
            </a:r>
            <a:endParaRPr lang="zh-TW" sz="1600" dirty="0"/>
          </a:p>
        </p:txBody>
      </p:sp>
      <p:sp>
        <p:nvSpPr>
          <p:cNvPr id="19" name="text-19"/>
          <p:cNvSpPr txBox="1"/>
          <p:nvPr/>
        </p:nvSpPr>
        <p:spPr>
          <a:xfrm>
            <a:off x="4919472" y="26974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VS 與 VS Code 讀同一份，所有專案都能用</a:t>
            </a:r>
            <a:endParaRPr lang="zh-TW" sz="1300" dirty="0"/>
          </a:p>
        </p:txBody>
      </p:sp>
      <p:sp>
        <p:nvSpPr>
          <p:cNvPr id="20" name="arrow-20"/>
          <p:cNvSpPr/>
          <p:nvPr/>
        </p:nvSpPr>
        <p:spPr>
          <a:xfrm>
            <a:off x="6592824" y="1810512"/>
            <a:ext cx="25603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card-21"/>
          <p:cNvSpPr/>
          <p:nvPr/>
        </p:nvSpPr>
        <p:spPr>
          <a:xfrm>
            <a:off x="6903720" y="1188720"/>
            <a:ext cx="1783080" cy="233172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-bg-22"/>
          <p:cNvSpPr/>
          <p:nvPr/>
        </p:nvSpPr>
        <p:spPr>
          <a:xfrm>
            <a:off x="745236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627632"/>
            <a:ext cx="356616" cy="356616"/>
          </a:xfrm>
          <a:prstGeom prst="rect">
            <a:avLst/>
          </a:prstGeom>
        </p:spPr>
      </p:pic>
      <p:sp>
        <p:nvSpPr>
          <p:cNvPr id="24" name="text-24"/>
          <p:cNvSpPr txBox="1"/>
          <p:nvPr/>
        </p:nvSpPr>
        <p:spPr>
          <a:xfrm>
            <a:off x="704088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自動回報</a:t>
            </a:r>
            <a:endParaRPr lang="zh-TW" sz="1600" dirty="0"/>
          </a:p>
        </p:txBody>
      </p:sp>
      <p:sp>
        <p:nvSpPr>
          <p:cNvPr id="25" name="text-25"/>
          <p:cNvSpPr txBox="1"/>
          <p:nvPr/>
        </p:nvSpPr>
        <p:spPr>
          <a:xfrm>
            <a:off x="7068312" y="26974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每台電腦回報版本，儀表板看誰落後</a:t>
            </a:r>
            <a:endParaRPr lang="zh-TW" sz="1300" dirty="0"/>
          </a:p>
        </p:txBody>
      </p:sp>
      <p:sp>
        <p:nvSpPr>
          <p:cNvPr id="26" name="card-26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-27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結論　</a:t>
            </a:r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採「課級共用集中管理＋專案專屬各自管理」分層架構；POC 程式已完成，通過 60 項情境測試。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現況問題與研究目標</a:t>
            </a:r>
            <a:endParaRPr lang="en-US" sz="2800" dirty="0"/>
          </a:p>
        </p:txBody>
      </p:sp>
      <p:sp>
        <p:nvSpPr>
          <p:cNvPr id="3" name="text-28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現況問題</a:t>
            </a:r>
            <a:endParaRPr lang="zh-TW" sz="1600" dirty="0"/>
          </a:p>
        </p:txBody>
      </p:sp>
      <p:sp>
        <p:nvSpPr>
          <p:cNvPr id="4" name="icon-bg-29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-3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686154"/>
            <a:ext cx="285293" cy="285293"/>
          </a:xfrm>
          <a:prstGeom prst="rect">
            <a:avLst/>
          </a:prstGeom>
        </p:spPr>
      </p:pic>
      <p:sp>
        <p:nvSpPr>
          <p:cNvPr id="6" name="text-31"/>
          <p:cNvSpPr txBox="1"/>
          <p:nvPr/>
        </p:nvSpPr>
        <p:spPr>
          <a:xfrm>
            <a:off x="118872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各自安裝</a:t>
            </a:r>
            <a:endParaRPr lang="zh-TW" sz="1500" dirty="0"/>
          </a:p>
        </p:txBody>
      </p:sp>
      <p:sp>
        <p:nvSpPr>
          <p:cNvPr id="7" name="text-32"/>
          <p:cNvSpPr txBox="1"/>
          <p:nvPr/>
        </p:nvSpPr>
        <p:spPr>
          <a:xfrm>
            <a:off x="118872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每個人自己找、自己裝，新人上手慢</a:t>
            </a:r>
            <a:endParaRPr lang="zh-TW" sz="1300" dirty="0"/>
          </a:p>
        </p:txBody>
      </p:sp>
      <p:sp>
        <p:nvSpPr>
          <p:cNvPr id="8" name="icon-bg-33"/>
          <p:cNvSpPr/>
          <p:nvPr/>
        </p:nvSpPr>
        <p:spPr>
          <a:xfrm>
            <a:off x="457200" y="2514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on-3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4" y="2646274"/>
            <a:ext cx="285293" cy="285293"/>
          </a:xfrm>
          <a:prstGeom prst="rect">
            <a:avLst/>
          </a:prstGeom>
        </p:spPr>
      </p:pic>
      <p:sp>
        <p:nvSpPr>
          <p:cNvPr id="10" name="text-35"/>
          <p:cNvSpPr txBox="1"/>
          <p:nvPr/>
        </p:nvSpPr>
        <p:spPr>
          <a:xfrm>
            <a:off x="1188720" y="2496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重複維護</a:t>
            </a:r>
            <a:endParaRPr lang="zh-TW" sz="1500" dirty="0"/>
          </a:p>
        </p:txBody>
      </p:sp>
      <p:sp>
        <p:nvSpPr>
          <p:cNvPr id="11" name="text-36"/>
          <p:cNvSpPr txBox="1"/>
          <p:nvPr/>
        </p:nvSpPr>
        <p:spPr>
          <a:xfrm>
            <a:off x="1188720" y="2807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同一份規範散落在各專案與個人電腦</a:t>
            </a:r>
            <a:endParaRPr lang="zh-TW" sz="1300" dirty="0"/>
          </a:p>
        </p:txBody>
      </p:sp>
      <p:sp>
        <p:nvSpPr>
          <p:cNvPr id="12" name="icon-bg-37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-3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3606394"/>
            <a:ext cx="285293" cy="285293"/>
          </a:xfrm>
          <a:prstGeom prst="rect">
            <a:avLst/>
          </a:prstGeom>
        </p:spPr>
      </p:pic>
      <p:sp>
        <p:nvSpPr>
          <p:cNvPr id="14" name="text-39"/>
          <p:cNvSpPr txBox="1"/>
          <p:nvPr/>
        </p:nvSpPr>
        <p:spPr>
          <a:xfrm>
            <a:off x="1188720" y="3456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版本不一致</a:t>
            </a:r>
            <a:endParaRPr lang="zh-TW" sz="1500" dirty="0"/>
          </a:p>
        </p:txBody>
      </p:sp>
      <p:sp>
        <p:nvSpPr>
          <p:cNvPr id="15" name="text-40"/>
          <p:cNvSpPr txBox="1"/>
          <p:nvPr/>
        </p:nvSpPr>
        <p:spPr>
          <a:xfrm>
            <a:off x="1188720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沒人知道誰用哪一版、誰沒有更新</a:t>
            </a:r>
            <a:endParaRPr lang="zh-TW" sz="1300" dirty="0"/>
          </a:p>
        </p:txBody>
      </p:sp>
      <p:sp>
        <p:nvSpPr>
          <p:cNvPr id="16" name="card-41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42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研究目標</a:t>
            </a:r>
            <a:endParaRPr lang="zh-TW" sz="1600" dirty="0"/>
          </a:p>
        </p:txBody>
      </p:sp>
      <p:sp>
        <p:nvSpPr>
          <p:cNvPr id="18" name="num-bg-43"/>
          <p:cNvSpPr/>
          <p:nvPr/>
        </p:nvSpPr>
        <p:spPr>
          <a:xfrm>
            <a:off x="4937760" y="1783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-44"/>
          <p:cNvSpPr txBox="1"/>
          <p:nvPr/>
        </p:nvSpPr>
        <p:spPr>
          <a:xfrm>
            <a:off x="49377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zh-TW" sz="1400" dirty="0"/>
          </a:p>
        </p:txBody>
      </p:sp>
      <p:sp>
        <p:nvSpPr>
          <p:cNvPr id="20" name="text-45"/>
          <p:cNvSpPr txBox="1"/>
          <p:nvPr/>
        </p:nvSpPr>
        <p:spPr>
          <a:xfrm>
            <a:off x="5440680" y="1737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評估用內部 GitLab 建立共用 skill repository</a:t>
            </a:r>
            <a:endParaRPr lang="zh-TW" sz="1400" dirty="0"/>
          </a:p>
        </p:txBody>
      </p:sp>
      <p:sp>
        <p:nvSpPr>
          <p:cNvPr id="21" name="num-bg-46"/>
          <p:cNvSpPr/>
          <p:nvPr/>
        </p:nvSpPr>
        <p:spPr>
          <a:xfrm>
            <a:off x="4937760" y="24414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-47"/>
          <p:cNvSpPr txBox="1"/>
          <p:nvPr/>
        </p:nvSpPr>
        <p:spPr>
          <a:xfrm>
            <a:off x="493776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zh-TW" sz="1400" dirty="0"/>
          </a:p>
        </p:txBody>
      </p:sp>
      <p:sp>
        <p:nvSpPr>
          <p:cNvPr id="23" name="text-48"/>
          <p:cNvSpPr txBox="1"/>
          <p:nvPr/>
        </p:nvSpPr>
        <p:spPr>
          <a:xfrm>
            <a:off x="5440680" y="23957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比較集中管理與專案獨立管理的優缺點</a:t>
            </a:r>
            <a:endParaRPr lang="zh-TW" sz="1400" dirty="0"/>
          </a:p>
        </p:txBody>
      </p:sp>
      <p:sp>
        <p:nvSpPr>
          <p:cNvPr id="24" name="num-bg-49"/>
          <p:cNvSpPr/>
          <p:nvPr/>
        </p:nvSpPr>
        <p:spPr>
          <a:xfrm>
            <a:off x="4937760" y="30998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50"/>
          <p:cNvSpPr txBox="1"/>
          <p:nvPr/>
        </p:nvSpPr>
        <p:spPr>
          <a:xfrm>
            <a:off x="493776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zh-TW" sz="1400" dirty="0"/>
          </a:p>
        </p:txBody>
      </p:sp>
      <p:sp>
        <p:nvSpPr>
          <p:cNvPr id="26" name="text-51"/>
          <p:cNvSpPr txBox="1"/>
          <p:nvPr/>
        </p:nvSpPr>
        <p:spPr>
          <a:xfrm>
            <a:off x="5440680" y="305409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掌握每個人的版本，知道誰沒更新</a:t>
            </a:r>
            <a:endParaRPr lang="zh-TW" sz="1400" dirty="0"/>
          </a:p>
        </p:txBody>
      </p:sp>
      <p:sp>
        <p:nvSpPr>
          <p:cNvPr id="27" name="num-bg-52"/>
          <p:cNvSpPr/>
          <p:nvPr/>
        </p:nvSpPr>
        <p:spPr>
          <a:xfrm>
            <a:off x="4937760" y="37581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-53"/>
          <p:cNvSpPr txBox="1"/>
          <p:nvPr/>
        </p:nvSpPr>
        <p:spPr>
          <a:xfrm>
            <a:off x="493776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zh-TW" sz="1400" dirty="0"/>
          </a:p>
        </p:txBody>
      </p:sp>
      <p:sp>
        <p:nvSpPr>
          <p:cNvPr id="29" name="text-54"/>
          <p:cNvSpPr txBox="1"/>
          <p:nvPr/>
        </p:nvSpPr>
        <p:spPr>
          <a:xfrm>
            <a:off x="5440680" y="37124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POC 驗證安裝、更新與版本管理機制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技術調查：兩個 IDE 的共同交集</a:t>
            </a:r>
            <a:endParaRPr lang="en-US" sz="2800" dirty="0"/>
          </a:p>
        </p:txBody>
      </p:sp>
      <p:graphicFrame>
        <p:nvGraphicFramePr>
          <p:cNvPr id="5" name="table-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423160"/>
                <a:gridCol w="1600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讀取位置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VS Code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VS 2026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專案層級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.github/skills/ 等 3 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相同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個人層級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~/.copilot/skills/ 等 3 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相同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額外路徑設定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chat.agentSkillsLocations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無對應設定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組織層級派送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無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無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-56"/>
          <p:cNvSpPr txBox="1"/>
          <p:nvPr/>
        </p:nvSpPr>
        <p:spPr>
          <a:xfrm>
            <a:off x="457200" y="3657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accent5"/>
                </a:solidFill>
              </a:rPr>
              <a:t>資料來源：VS Code 官方文件、Microsoft Learn（2026-10 查證）</a:t>
            </a:r>
            <a:endParaRPr lang="zh-TW" sz="1000" dirty="0"/>
          </a:p>
        </p:txBody>
      </p:sp>
      <p:sp>
        <p:nvSpPr>
          <p:cNvPr id="5" name="icon-bg-57"/>
          <p:cNvSpPr/>
          <p:nvPr/>
        </p:nvSpPr>
        <p:spPr>
          <a:xfrm>
            <a:off x="6035040" y="1143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5741" y="1263701"/>
            <a:ext cx="261518" cy="261518"/>
          </a:xfrm>
          <a:prstGeom prst="rect">
            <a:avLst/>
          </a:prstGeom>
        </p:spPr>
      </p:pic>
      <p:sp>
        <p:nvSpPr>
          <p:cNvPr id="7" name="text-59"/>
          <p:cNvSpPr txBox="1"/>
          <p:nvPr/>
        </p:nvSpPr>
        <p:spPr>
          <a:xfrm>
            <a:off x="6675120" y="1124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交集只有個人目錄</a:t>
            </a:r>
            <a:endParaRPr lang="zh-TW" sz="1400" dirty="0"/>
          </a:p>
        </p:txBody>
      </p:sp>
      <p:sp>
        <p:nvSpPr>
          <p:cNvPr id="8" name="text-60"/>
          <p:cNvSpPr txBox="1"/>
          <p:nvPr/>
        </p:nvSpPr>
        <p:spPr>
          <a:xfrm>
            <a:off x="6675120" y="14356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以 ~/.copilot/skills 為核心</a:t>
            </a:r>
            <a:endParaRPr lang="zh-TW" sz="1300" dirty="0"/>
          </a:p>
        </p:txBody>
      </p:sp>
      <p:sp>
        <p:nvSpPr>
          <p:cNvPr id="9" name="icon-bg-61"/>
          <p:cNvSpPr/>
          <p:nvPr/>
        </p:nvSpPr>
        <p:spPr>
          <a:xfrm>
            <a:off x="6035040" y="21671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741" y="2287829"/>
            <a:ext cx="261518" cy="261518"/>
          </a:xfrm>
          <a:prstGeom prst="rect">
            <a:avLst/>
          </a:prstGeom>
        </p:spPr>
      </p:pic>
      <p:sp>
        <p:nvSpPr>
          <p:cNvPr id="11" name="text-63"/>
          <p:cNvSpPr txBox="1"/>
          <p:nvPr/>
        </p:nvSpPr>
        <p:spPr>
          <a:xfrm>
            <a:off x="6675120" y="2148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VS 沒有額外路徑設定</a:t>
            </a:r>
            <a:endParaRPr lang="zh-TW" sz="1400" dirty="0"/>
          </a:p>
        </p:txBody>
      </p:sp>
      <p:sp>
        <p:nvSpPr>
          <p:cNvPr id="12" name="text-64"/>
          <p:cNvSpPr txBox="1"/>
          <p:nvPr/>
        </p:nvSpPr>
        <p:spPr>
          <a:xfrm>
            <a:off x="6675120" y="24597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必須把檔案實際放進去</a:t>
            </a:r>
            <a:endParaRPr lang="zh-TW" sz="1300" dirty="0"/>
          </a:p>
        </p:txBody>
      </p:sp>
      <p:sp>
        <p:nvSpPr>
          <p:cNvPr id="13" name="icon-bg-65"/>
          <p:cNvSpPr/>
          <p:nvPr/>
        </p:nvSpPr>
        <p:spPr>
          <a:xfrm>
            <a:off x="6035040" y="319125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41" y="3311957"/>
            <a:ext cx="261518" cy="261518"/>
          </a:xfrm>
          <a:prstGeom prst="rect">
            <a:avLst/>
          </a:prstGeom>
        </p:spPr>
      </p:pic>
      <p:sp>
        <p:nvSpPr>
          <p:cNvPr id="15" name="text-67"/>
          <p:cNvSpPr txBox="1"/>
          <p:nvPr/>
        </p:nvSpPr>
        <p:spPr>
          <a:xfrm>
            <a:off x="6675120" y="3172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官方沒有組織層級派送</a:t>
            </a:r>
            <a:endParaRPr lang="zh-TW" sz="1400" dirty="0"/>
          </a:p>
        </p:txBody>
      </p:sp>
      <p:sp>
        <p:nvSpPr>
          <p:cNvPr id="16" name="text-68"/>
          <p:cNvSpPr txBox="1"/>
          <p:nvPr/>
        </p:nvSpPr>
        <p:spPr>
          <a:xfrm>
            <a:off x="6675120" y="34838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公司用 GitLab，需要自建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五種管理方式比較</a:t>
            </a:r>
            <a:endParaRPr lang="en-US" sz="2800" dirty="0"/>
          </a:p>
        </p:txBody>
      </p:sp>
      <p:graphicFrame>
        <p:nvGraphicFramePr>
          <p:cNvPr id="6" name="table-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28016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評估項目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 專案獨立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 集中＋同步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 Submodule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 Plugin 市集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 網路磁碟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同時支援 VS 與 VS Code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跨專案共用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改一次全課生效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知道誰沒更新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試用頻道與回滾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離線可用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官方支援程度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正式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正式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正式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預覽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未知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-70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71"/>
          <p:cNvSpPr txBox="1"/>
          <p:nvPr/>
        </p:nvSpPr>
        <p:spPr>
          <a:xfrm>
            <a:off x="685800" y="400507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建議　</a:t>
            </a:r>
            <a:pPr indent="0" marL="0">
              <a:buNone/>
            </a:pPr>
            <a:r>
              <a:rPr lang="zh-TW" altLang="en-US" sz="1400" dirty="0">
                <a:solidFill>
                  <a:schemeClr val="bg1"/>
                </a:solidFill>
              </a:rPr>
              <a:t>B 為主（課級共用）、A 為輔（專案專屬）；D 持續觀察，C、E 不建議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建議架構：三層分工</a:t>
            </a:r>
            <a:endParaRPr lang="en-US" sz="2800" dirty="0"/>
          </a:p>
        </p:txBody>
      </p:sp>
      <p:sp>
        <p:nvSpPr>
          <p:cNvPr id="3" name="card-72"/>
          <p:cNvSpPr/>
          <p:nvPr/>
        </p:nvSpPr>
        <p:spPr>
          <a:xfrm>
            <a:off x="457200" y="10972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con-bg-73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con-7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457554"/>
            <a:ext cx="285293" cy="285293"/>
          </a:xfrm>
          <a:prstGeom prst="rect">
            <a:avLst/>
          </a:prstGeom>
        </p:spPr>
      </p:pic>
      <p:sp>
        <p:nvSpPr>
          <p:cNvPr id="6" name="text-75"/>
          <p:cNvSpPr txBox="1"/>
          <p:nvPr/>
        </p:nvSpPr>
        <p:spPr>
          <a:xfrm>
            <a:off x="137160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課級共用</a:t>
            </a:r>
            <a:endParaRPr lang="zh-TW" sz="1800" dirty="0"/>
          </a:p>
        </p:txBody>
      </p:sp>
      <p:sp>
        <p:nvSpPr>
          <p:cNvPr id="7" name="text-76"/>
          <p:cNvSpPr txBox="1"/>
          <p:nvPr/>
        </p:nvSpPr>
        <p:spPr>
          <a:xfrm>
            <a:off x="685800" y="201168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bg2"/>
                </a:solidFill>
              </a:rPr>
              <a:t>放哪裡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dirty="0">
                <a:solidFill>
                  <a:schemeClr val="bg1"/>
                </a:solidFill>
              </a:rPr>
              <a:t>GitLab 共用 repo → 自動同步到 ~/.copilot/skills/cim-*</a:t>
            </a:r>
            <a:endParaRPr lang="zh-TW" sz="1250" dirty="0"/>
          </a:p>
          <a:p>
            <a:pPr indent="0" marL="0">
              <a:buNone/>
            </a:pPr>
            <a:r>
              <a:rPr lang="zh-TW" altLang="en-US" sz="600" dirty="0">
                <a:solidFill>
                  <a:srgbClr val="000000"/>
                </a:solidFill>
              </a:rPr>
              <a:t> 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b="1" dirty="0">
                <a:solidFill>
                  <a:schemeClr val="bg2"/>
                </a:solidFill>
              </a:rPr>
              <a:t>誰維護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dirty="0">
                <a:solidFill>
                  <a:schemeClr val="bg1"/>
                </a:solidFill>
              </a:rPr>
              <a:t>Skills 維護小組</a:t>
            </a:r>
            <a:endParaRPr lang="zh-TW" sz="1250" dirty="0"/>
          </a:p>
          <a:p>
            <a:pPr indent="0" marL="0">
              <a:buNone/>
            </a:pPr>
            <a:r>
              <a:rPr lang="zh-TW" altLang="en-US" sz="600" dirty="0">
                <a:solidFill>
                  <a:srgbClr val="000000"/>
                </a:solidFill>
              </a:rPr>
              <a:t> 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b="1" dirty="0">
                <a:solidFill>
                  <a:schemeClr val="bg2"/>
                </a:solidFill>
              </a:rPr>
              <a:t>例子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dirty="0">
                <a:solidFill>
                  <a:schemeClr val="bg1"/>
                </a:solidFill>
              </a:rPr>
              <a:t>程式規範、commit 規範、code review</a:t>
            </a:r>
            <a:endParaRPr lang="zh-TW" sz="1250" dirty="0"/>
          </a:p>
        </p:txBody>
      </p:sp>
      <p:sp>
        <p:nvSpPr>
          <p:cNvPr id="8" name="card-77"/>
          <p:cNvSpPr/>
          <p:nvPr/>
        </p:nvSpPr>
        <p:spPr>
          <a:xfrm>
            <a:off x="3291840" y="10972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78"/>
          <p:cNvSpPr/>
          <p:nvPr/>
        </p:nvSpPr>
        <p:spPr>
          <a:xfrm>
            <a:off x="352044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7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14" y="1457554"/>
            <a:ext cx="285293" cy="285293"/>
          </a:xfrm>
          <a:prstGeom prst="rect">
            <a:avLst/>
          </a:prstGeom>
        </p:spPr>
      </p:pic>
      <p:sp>
        <p:nvSpPr>
          <p:cNvPr id="11" name="text-80"/>
          <p:cNvSpPr txBox="1"/>
          <p:nvPr/>
        </p:nvSpPr>
        <p:spPr>
          <a:xfrm>
            <a:off x="420624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專案專屬</a:t>
            </a:r>
            <a:endParaRPr lang="zh-TW" sz="1800" dirty="0"/>
          </a:p>
        </p:txBody>
      </p:sp>
      <p:sp>
        <p:nvSpPr>
          <p:cNvPr id="12" name="text-81"/>
          <p:cNvSpPr txBox="1"/>
          <p:nvPr/>
        </p:nvSpPr>
        <p:spPr>
          <a:xfrm>
            <a:off x="3520440" y="201168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5"/>
                </a:solidFill>
              </a:rPr>
              <a:t>放哪裡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專案 repo 的 .github/skills/，跟程式碼一起版控</a:t>
            </a:r>
            <a:endParaRPr lang="zh-TW" sz="1250" dirty="0"/>
          </a:p>
          <a:p>
            <a:pPr indent="0" marL="0">
              <a:buNone/>
            </a:pPr>
            <a:r>
              <a:rPr lang="zh-TW" altLang="en-US" sz="600" dirty="0">
                <a:solidFill>
                  <a:srgbClr val="000000"/>
                </a:solidFill>
              </a:rPr>
              <a:t> 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b="1" dirty="0">
                <a:solidFill>
                  <a:schemeClr val="accent5"/>
                </a:solidFill>
              </a:rPr>
              <a:t>誰維護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專案成員</a:t>
            </a:r>
            <a:endParaRPr lang="zh-TW" sz="1250" dirty="0"/>
          </a:p>
          <a:p>
            <a:pPr indent="0" marL="0">
              <a:buNone/>
            </a:pPr>
            <a:r>
              <a:rPr lang="zh-TW" altLang="en-US" sz="600" dirty="0">
                <a:solidFill>
                  <a:srgbClr val="000000"/>
                </a:solidFill>
              </a:rPr>
              <a:t> 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b="1" dirty="0">
                <a:solidFill>
                  <a:schemeClr val="accent5"/>
                </a:solidFill>
              </a:rPr>
              <a:t>例子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部署步驟、特定設備協定</a:t>
            </a:r>
            <a:endParaRPr lang="zh-TW" sz="1250" dirty="0"/>
          </a:p>
        </p:txBody>
      </p:sp>
      <p:sp>
        <p:nvSpPr>
          <p:cNvPr id="13" name="card-82"/>
          <p:cNvSpPr/>
          <p:nvPr/>
        </p:nvSpPr>
        <p:spPr>
          <a:xfrm>
            <a:off x="6126480" y="10972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83"/>
          <p:cNvSpPr/>
          <p:nvPr/>
        </p:nvSpPr>
        <p:spPr>
          <a:xfrm>
            <a:off x="635508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8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1457554"/>
            <a:ext cx="285293" cy="285293"/>
          </a:xfrm>
          <a:prstGeom prst="rect">
            <a:avLst/>
          </a:prstGeom>
        </p:spPr>
      </p:pic>
      <p:sp>
        <p:nvSpPr>
          <p:cNvPr id="16" name="text-85"/>
          <p:cNvSpPr txBox="1"/>
          <p:nvPr/>
        </p:nvSpPr>
        <p:spPr>
          <a:xfrm>
            <a:off x="704088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個人</a:t>
            </a:r>
            <a:endParaRPr lang="zh-TW" sz="1800" dirty="0"/>
          </a:p>
        </p:txBody>
      </p:sp>
      <p:sp>
        <p:nvSpPr>
          <p:cNvPr id="17" name="text-86"/>
          <p:cNvSpPr txBox="1"/>
          <p:nvPr/>
        </p:nvSpPr>
        <p:spPr>
          <a:xfrm>
            <a:off x="6355080" y="201168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50" b="1" dirty="0">
                <a:solidFill>
                  <a:schemeClr val="accent5"/>
                </a:solidFill>
              </a:rPr>
              <a:t>放哪裡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~/.copilot/skills/，名稱不加 cim- 前綴</a:t>
            </a:r>
            <a:endParaRPr lang="zh-TW" sz="1250" dirty="0"/>
          </a:p>
          <a:p>
            <a:pPr indent="0" marL="0">
              <a:buNone/>
            </a:pPr>
            <a:r>
              <a:rPr lang="zh-TW" altLang="en-US" sz="600" dirty="0">
                <a:solidFill>
                  <a:srgbClr val="000000"/>
                </a:solidFill>
              </a:rPr>
              <a:t> 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b="1" dirty="0">
                <a:solidFill>
                  <a:schemeClr val="accent5"/>
                </a:solidFill>
              </a:rPr>
              <a:t>誰維護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個人</a:t>
            </a:r>
            <a:endParaRPr lang="zh-TW" sz="1250" dirty="0"/>
          </a:p>
          <a:p>
            <a:pPr indent="0" marL="0">
              <a:buNone/>
            </a:pPr>
            <a:r>
              <a:rPr lang="zh-TW" altLang="en-US" sz="600" dirty="0">
                <a:solidFill>
                  <a:srgbClr val="000000"/>
                </a:solidFill>
              </a:rPr>
              <a:t> 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b="1" dirty="0">
                <a:solidFill>
                  <a:schemeClr val="accent5"/>
                </a:solidFill>
              </a:rPr>
              <a:t>例子</a:t>
            </a:r>
            <a:endParaRPr lang="zh-TW" sz="1250" dirty="0"/>
          </a:p>
          <a:p>
            <a:pPr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個人習慣、試驗中的 skill</a:t>
            </a:r>
            <a:endParaRPr lang="zh-TW" sz="1250" dirty="0"/>
          </a:p>
        </p:txBody>
      </p:sp>
      <p:sp>
        <p:nvSpPr>
          <p:cNvPr id="18" name="text-8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怎麼決定？</a:t>
            </a:r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　只跟一個專案有關 → 專案｜全課都會用 → 共用 repo｜試驗中 → 個人，成熟後發 MR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整體架構</a:t>
            </a:r>
            <a:endParaRPr lang="en-US" sz="2800" dirty="0"/>
          </a:p>
        </p:txBody>
      </p:sp>
      <p:sp>
        <p:nvSpPr>
          <p:cNvPr id="3" name="card-88"/>
          <p:cNvSpPr/>
          <p:nvPr/>
        </p:nvSpPr>
        <p:spPr>
          <a:xfrm>
            <a:off x="457200" y="118872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89"/>
          <p:cNvSpPr txBox="1"/>
          <p:nvPr/>
        </p:nvSpPr>
        <p:spPr>
          <a:xfrm>
            <a:off x="594360" y="1316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內部 GitLab</a:t>
            </a:r>
            <a:endParaRPr lang="zh-TW" sz="1500" dirty="0"/>
          </a:p>
        </p:txBody>
      </p:sp>
      <p:sp>
        <p:nvSpPr>
          <p:cNvPr id="5" name="text-90"/>
          <p:cNvSpPr txBox="1"/>
          <p:nvPr/>
        </p:nvSpPr>
        <p:spPr>
          <a:xfrm>
            <a:off x="594360" y="1664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bg2"/>
                </a:solidFill>
              </a:rPr>
              <a:t>cim-copilot-skills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bg2"/>
                </a:solidFill>
              </a:rPr>
              <a:t>CI 檢查、打 tag 發版</a:t>
            </a:r>
            <a:endParaRPr lang="zh-TW" sz="1200" dirty="0"/>
          </a:p>
        </p:txBody>
      </p:sp>
      <p:sp>
        <p:nvSpPr>
          <p:cNvPr id="6" name="card-91"/>
          <p:cNvSpPr/>
          <p:nvPr/>
        </p:nvSpPr>
        <p:spPr>
          <a:xfrm>
            <a:off x="3383280" y="118872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92"/>
          <p:cNvSpPr txBox="1"/>
          <p:nvPr/>
        </p:nvSpPr>
        <p:spPr>
          <a:xfrm>
            <a:off x="3520440" y="1316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每台電腦的同步程式</a:t>
            </a:r>
            <a:endParaRPr lang="zh-TW" sz="1500" dirty="0"/>
          </a:p>
        </p:txBody>
      </p:sp>
      <p:sp>
        <p:nvSpPr>
          <p:cNvPr id="8" name="text-93"/>
          <p:cNvSpPr txBox="1"/>
          <p:nvPr/>
        </p:nvSpPr>
        <p:spPr>
          <a:xfrm>
            <a:off x="3520440" y="1664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bg2"/>
                </a:solidFill>
              </a:rPr>
              <a:t>cim-skills-sync.ps1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bg2"/>
                </a:solidFill>
              </a:rPr>
              <a:t>工作排程：登入＋每天</a:t>
            </a:r>
            <a:endParaRPr lang="zh-TW" sz="1200" dirty="0"/>
          </a:p>
        </p:txBody>
      </p:sp>
      <p:sp>
        <p:nvSpPr>
          <p:cNvPr id="9" name="card-94"/>
          <p:cNvSpPr/>
          <p:nvPr/>
        </p:nvSpPr>
        <p:spPr>
          <a:xfrm>
            <a:off x="6309360" y="118872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95"/>
          <p:cNvSpPr txBox="1"/>
          <p:nvPr/>
        </p:nvSpPr>
        <p:spPr>
          <a:xfrm>
            <a:off x="6446520" y="1316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~/.copilot/skills</a:t>
            </a:r>
            <a:endParaRPr lang="zh-TW" sz="1500" dirty="0"/>
          </a:p>
        </p:txBody>
      </p:sp>
      <p:sp>
        <p:nvSpPr>
          <p:cNvPr id="11" name="text-96"/>
          <p:cNvSpPr txBox="1"/>
          <p:nvPr/>
        </p:nvSpPr>
        <p:spPr>
          <a:xfrm>
            <a:off x="6446520" y="1664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cim-* 共用 skill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個人 skill 共存不受影響</a:t>
            </a:r>
            <a:endParaRPr lang="zh-TW" sz="1200" dirty="0"/>
          </a:p>
        </p:txBody>
      </p:sp>
      <p:sp>
        <p:nvSpPr>
          <p:cNvPr id="12" name="card-97"/>
          <p:cNvSpPr/>
          <p:nvPr/>
        </p:nvSpPr>
        <p:spPr>
          <a:xfrm>
            <a:off x="3383280" y="324612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98"/>
          <p:cNvSpPr txBox="1"/>
          <p:nvPr/>
        </p:nvSpPr>
        <p:spPr>
          <a:xfrm>
            <a:off x="3520440" y="33741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心跳收集</a:t>
            </a:r>
            <a:endParaRPr lang="zh-TW" sz="1500" dirty="0"/>
          </a:p>
        </p:txBody>
      </p:sp>
      <p:sp>
        <p:nvSpPr>
          <p:cNvPr id="14" name="text-99"/>
          <p:cNvSpPr txBox="1"/>
          <p:nvPr/>
        </p:nvSpPr>
        <p:spPr>
          <a:xfrm>
            <a:off x="3520440" y="37216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共用資料夾或 HTTP 服務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每台電腦一個 JSON</a:t>
            </a:r>
            <a:endParaRPr lang="zh-TW" sz="1200" dirty="0"/>
          </a:p>
        </p:txBody>
      </p:sp>
      <p:sp>
        <p:nvSpPr>
          <p:cNvPr id="15" name="card-100"/>
          <p:cNvSpPr/>
          <p:nvPr/>
        </p:nvSpPr>
        <p:spPr>
          <a:xfrm>
            <a:off x="457200" y="324612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-101"/>
          <p:cNvSpPr txBox="1"/>
          <p:nvPr/>
        </p:nvSpPr>
        <p:spPr>
          <a:xfrm>
            <a:off x="594360" y="33741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版本儀表板</a:t>
            </a:r>
            <a:endParaRPr lang="zh-TW" sz="1500" dirty="0"/>
          </a:p>
        </p:txBody>
      </p:sp>
      <p:sp>
        <p:nvSpPr>
          <p:cNvPr id="17" name="text-102"/>
          <p:cNvSpPr txBox="1"/>
          <p:nvPr/>
        </p:nvSpPr>
        <p:spPr>
          <a:xfrm>
            <a:off x="594360" y="37216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每天自動產生 HTML／CSV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落後、失敗、未安裝</a:t>
            </a:r>
            <a:endParaRPr lang="zh-TW" sz="1200" dirty="0"/>
          </a:p>
        </p:txBody>
      </p:sp>
      <p:sp>
        <p:nvSpPr>
          <p:cNvPr id="18" name="card-103"/>
          <p:cNvSpPr/>
          <p:nvPr/>
        </p:nvSpPr>
        <p:spPr>
          <a:xfrm>
            <a:off x="6309360" y="3246120"/>
            <a:ext cx="109728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9FB3B1"/>
            </a:solidFill>
            <a:prstDash val="solid"/>
          </a:ln>
        </p:spPr>
      </p:sp>
      <p:sp>
        <p:nvSpPr>
          <p:cNvPr id="19" name="card-104"/>
          <p:cNvSpPr/>
          <p:nvPr/>
        </p:nvSpPr>
        <p:spPr>
          <a:xfrm>
            <a:off x="7589520" y="3246120"/>
            <a:ext cx="109728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9FB3B1"/>
            </a:solidFill>
            <a:prstDash val="solid"/>
          </a:ln>
        </p:spPr>
      </p:sp>
      <p:sp>
        <p:nvSpPr>
          <p:cNvPr id="20" name="icon-bg-105"/>
          <p:cNvSpPr/>
          <p:nvPr/>
        </p:nvSpPr>
        <p:spPr>
          <a:xfrm>
            <a:off x="6675120" y="33741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-1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902" y="3461918"/>
            <a:ext cx="190195" cy="190195"/>
          </a:xfrm>
          <a:prstGeom prst="rect">
            <a:avLst/>
          </a:prstGeom>
        </p:spPr>
      </p:pic>
      <p:sp>
        <p:nvSpPr>
          <p:cNvPr id="22" name="icon-bg-107"/>
          <p:cNvSpPr/>
          <p:nvPr/>
        </p:nvSpPr>
        <p:spPr>
          <a:xfrm>
            <a:off x="7955280" y="33741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-1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062" y="3461918"/>
            <a:ext cx="190195" cy="190195"/>
          </a:xfrm>
          <a:prstGeom prst="rect">
            <a:avLst/>
          </a:prstGeom>
        </p:spPr>
      </p:pic>
      <p:sp>
        <p:nvSpPr>
          <p:cNvPr id="24" name="text-109"/>
          <p:cNvSpPr txBox="1"/>
          <p:nvPr/>
        </p:nvSpPr>
        <p:spPr>
          <a:xfrm>
            <a:off x="630936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Visual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Studio</a:t>
            </a:r>
            <a:endParaRPr lang="zh-TW" sz="1200" dirty="0"/>
          </a:p>
        </p:txBody>
      </p:sp>
      <p:sp>
        <p:nvSpPr>
          <p:cNvPr id="25" name="text-110"/>
          <p:cNvSpPr txBox="1"/>
          <p:nvPr/>
        </p:nvSpPr>
        <p:spPr>
          <a:xfrm>
            <a:off x="758952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VS Code</a:t>
            </a:r>
            <a:endParaRPr lang="zh-TW" sz="1200" dirty="0"/>
          </a:p>
        </p:txBody>
      </p:sp>
      <p:sp>
        <p:nvSpPr>
          <p:cNvPr id="26" name="arrow-111"/>
          <p:cNvSpPr/>
          <p:nvPr/>
        </p:nvSpPr>
        <p:spPr>
          <a:xfrm>
            <a:off x="2880360" y="1714500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text-112"/>
          <p:cNvSpPr txBox="1"/>
          <p:nvPr/>
        </p:nvSpPr>
        <p:spPr>
          <a:xfrm>
            <a:off x="2834640" y="1421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chemeClr val="accent5"/>
                </a:solidFill>
              </a:rPr>
              <a:t>只拉 tag</a:t>
            </a:r>
            <a:endParaRPr lang="zh-TW" sz="1000" dirty="0"/>
          </a:p>
        </p:txBody>
      </p:sp>
      <p:sp>
        <p:nvSpPr>
          <p:cNvPr id="28" name="arrow-113"/>
          <p:cNvSpPr/>
          <p:nvPr/>
        </p:nvSpPr>
        <p:spPr>
          <a:xfrm>
            <a:off x="5806440" y="1714500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text-114"/>
          <p:cNvSpPr txBox="1"/>
          <p:nvPr/>
        </p:nvSpPr>
        <p:spPr>
          <a:xfrm>
            <a:off x="5760720" y="1421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chemeClr val="accent5"/>
                </a:solidFill>
              </a:rPr>
              <a:t>比對複製</a:t>
            </a:r>
            <a:endParaRPr lang="zh-TW" sz="1000" dirty="0"/>
          </a:p>
        </p:txBody>
      </p:sp>
      <p:sp>
        <p:nvSpPr>
          <p:cNvPr id="30" name="arrow-115"/>
          <p:cNvSpPr/>
          <p:nvPr/>
        </p:nvSpPr>
        <p:spPr>
          <a:xfrm>
            <a:off x="7498080" y="2286000"/>
            <a:ext cx="0" cy="9144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text-116"/>
          <p:cNvSpPr txBox="1"/>
          <p:nvPr/>
        </p:nvSpPr>
        <p:spPr>
          <a:xfrm>
            <a:off x="758952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accent5"/>
                </a:solidFill>
              </a:rPr>
              <a:t>兩個 IDE 都讀</a:t>
            </a:r>
            <a:endParaRPr lang="zh-TW" sz="1000" dirty="0"/>
          </a:p>
        </p:txBody>
      </p:sp>
      <p:sp>
        <p:nvSpPr>
          <p:cNvPr id="32" name="arrow-117"/>
          <p:cNvSpPr/>
          <p:nvPr/>
        </p:nvSpPr>
        <p:spPr>
          <a:xfrm>
            <a:off x="4572000" y="2286000"/>
            <a:ext cx="0" cy="91440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3" name="text-118"/>
          <p:cNvSpPr txBox="1"/>
          <p:nvPr/>
        </p:nvSpPr>
        <p:spPr>
          <a:xfrm>
            <a:off x="466344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accent5"/>
                </a:solidFill>
              </a:rPr>
              <a:t>回報版本與狀態</a:t>
            </a:r>
            <a:endParaRPr lang="zh-TW" sz="1000" dirty="0"/>
          </a:p>
        </p:txBody>
      </p:sp>
      <p:sp>
        <p:nvSpPr>
          <p:cNvPr id="34" name="arrow-119"/>
          <p:cNvSpPr/>
          <p:nvPr/>
        </p:nvSpPr>
        <p:spPr>
          <a:xfrm flipH="1">
            <a:off x="2880360" y="3771900"/>
            <a:ext cx="4572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5" name="text-120"/>
          <p:cNvSpPr txBox="1"/>
          <p:nvPr/>
        </p:nvSpPr>
        <p:spPr>
          <a:xfrm>
            <a:off x="2834640" y="34792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chemeClr val="accent5"/>
                </a:solidFill>
              </a:rPr>
              <a:t>彙整</a:t>
            </a:r>
            <a:endParaRPr lang="zh-TW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同步流程：每次執行做什麼</a:t>
            </a:r>
            <a:endParaRPr lang="en-US" sz="2800" dirty="0"/>
          </a:p>
        </p:txBody>
      </p:sp>
      <p:sp>
        <p:nvSpPr>
          <p:cNvPr id="3" name="num-bg-12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12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zh-TW" sz="1400" dirty="0"/>
          </a:p>
        </p:txBody>
      </p:sp>
      <p:sp>
        <p:nvSpPr>
          <p:cNvPr id="5" name="text-123"/>
          <p:cNvSpPr txBox="1"/>
          <p:nvPr/>
        </p:nvSpPr>
        <p:spPr>
          <a:xfrm>
            <a:off x="1005840" y="10972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取得鎖</a:t>
            </a:r>
            <a:endParaRPr lang="zh-TW" sz="1500" dirty="0"/>
          </a:p>
        </p:txBody>
      </p:sp>
      <p:sp>
        <p:nvSpPr>
          <p:cNvPr id="6" name="text-124"/>
          <p:cNvSpPr txBox="1"/>
          <p:nvPr/>
        </p:nvSpPr>
        <p:spPr>
          <a:xfrm>
            <a:off x="2377440" y="10972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同一台電腦同時只會有一個同步在跑</a:t>
            </a:r>
            <a:endParaRPr lang="zh-TW" sz="1300" dirty="0"/>
          </a:p>
        </p:txBody>
      </p:sp>
      <p:sp>
        <p:nvSpPr>
          <p:cNvPr id="7" name="num-bg-125"/>
          <p:cNvSpPr/>
          <p:nvPr/>
        </p:nvSpPr>
        <p:spPr>
          <a:xfrm>
            <a:off x="457200" y="1709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126"/>
          <p:cNvSpPr txBox="1"/>
          <p:nvPr/>
        </p:nvSpPr>
        <p:spPr>
          <a:xfrm>
            <a:off x="45720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zh-TW" sz="1400" dirty="0"/>
          </a:p>
        </p:txBody>
      </p:sp>
      <p:sp>
        <p:nvSpPr>
          <p:cNvPr id="9" name="text-127"/>
          <p:cNvSpPr txBox="1"/>
          <p:nvPr/>
        </p:nvSpPr>
        <p:spPr>
          <a:xfrm>
            <a:off x="1005840" y="1664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git fetch</a:t>
            </a:r>
            <a:endParaRPr lang="zh-TW" sz="1500" dirty="0"/>
          </a:p>
        </p:txBody>
      </p:sp>
      <p:sp>
        <p:nvSpPr>
          <p:cNvPr id="10" name="text-128"/>
          <p:cNvSpPr txBox="1"/>
          <p:nvPr/>
        </p:nvSpPr>
        <p:spPr>
          <a:xfrm>
            <a:off x="2377440" y="166420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連不上 GitLab 就保留現有版本並回報</a:t>
            </a:r>
            <a:endParaRPr lang="zh-TW" sz="1300" dirty="0"/>
          </a:p>
        </p:txBody>
      </p:sp>
      <p:sp>
        <p:nvSpPr>
          <p:cNvPr id="11" name="num-bg-129"/>
          <p:cNvSpPr/>
          <p:nvPr/>
        </p:nvSpPr>
        <p:spPr>
          <a:xfrm>
            <a:off x="457200" y="22768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130"/>
          <p:cNvSpPr txBox="1"/>
          <p:nvPr/>
        </p:nvSpPr>
        <p:spPr>
          <a:xfrm>
            <a:off x="4572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zh-TW" sz="1400" dirty="0"/>
          </a:p>
        </p:txBody>
      </p:sp>
      <p:sp>
        <p:nvSpPr>
          <p:cNvPr id="13" name="text-131"/>
          <p:cNvSpPr txBox="1"/>
          <p:nvPr/>
        </p:nvSpPr>
        <p:spPr>
          <a:xfrm>
            <a:off x="1005840" y="22311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決定版本</a:t>
            </a:r>
            <a:endParaRPr lang="zh-TW" sz="1500" dirty="0"/>
          </a:p>
        </p:txBody>
      </p:sp>
      <p:sp>
        <p:nvSpPr>
          <p:cNvPr id="14" name="text-132"/>
          <p:cNvSpPr txBox="1"/>
          <p:nvPr/>
        </p:nvSpPr>
        <p:spPr>
          <a:xfrm>
            <a:off x="2377440" y="22311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指定版本 → 釘選版本 → beta → 最新 tag</a:t>
            </a:r>
            <a:endParaRPr lang="zh-TW" sz="1300" dirty="0"/>
          </a:p>
        </p:txBody>
      </p:sp>
      <p:sp>
        <p:nvSpPr>
          <p:cNvPr id="15" name="num-bg-133"/>
          <p:cNvSpPr/>
          <p:nvPr/>
        </p:nvSpPr>
        <p:spPr>
          <a:xfrm>
            <a:off x="457200" y="28437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134"/>
          <p:cNvSpPr txBox="1"/>
          <p:nvPr/>
        </p:nvSpPr>
        <p:spPr>
          <a:xfrm>
            <a:off x="45720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zh-TW" sz="1400" dirty="0"/>
          </a:p>
        </p:txBody>
      </p:sp>
      <p:sp>
        <p:nvSpPr>
          <p:cNvPr id="17" name="text-135"/>
          <p:cNvSpPr txBox="1"/>
          <p:nvPr/>
        </p:nvSpPr>
        <p:spPr>
          <a:xfrm>
            <a:off x="1005840" y="27980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比對 hash</a:t>
            </a:r>
            <a:endParaRPr lang="zh-TW" sz="1500" dirty="0"/>
          </a:p>
        </p:txBody>
      </p:sp>
      <p:sp>
        <p:nvSpPr>
          <p:cNvPr id="18" name="text-136"/>
          <p:cNvSpPr txBox="1"/>
          <p:nvPr/>
        </p:nvSpPr>
        <p:spPr>
          <a:xfrm>
            <a:off x="2377440" y="279806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只新增、更新、移除真的有變動的 skill</a:t>
            </a:r>
            <a:endParaRPr lang="zh-TW" sz="1300" dirty="0"/>
          </a:p>
        </p:txBody>
      </p:sp>
      <p:sp>
        <p:nvSpPr>
          <p:cNvPr id="19" name="num-bg-137"/>
          <p:cNvSpPr/>
          <p:nvPr/>
        </p:nvSpPr>
        <p:spPr>
          <a:xfrm>
            <a:off x="457200" y="34107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138"/>
          <p:cNvSpPr txBox="1"/>
          <p:nvPr/>
        </p:nvSpPr>
        <p:spPr>
          <a:xfrm>
            <a:off x="45720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zh-TW" sz="1400" dirty="0"/>
          </a:p>
        </p:txBody>
      </p:sp>
      <p:sp>
        <p:nvSpPr>
          <p:cNvPr id="21" name="text-139"/>
          <p:cNvSpPr txBox="1"/>
          <p:nvPr/>
        </p:nvSpPr>
        <p:spPr>
          <a:xfrm>
            <a:off x="1005840" y="33649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保護本機</a:t>
            </a:r>
            <a:endParaRPr lang="zh-TW" sz="1500" dirty="0"/>
          </a:p>
        </p:txBody>
      </p:sp>
      <p:sp>
        <p:nvSpPr>
          <p:cNvPr id="22" name="text-140"/>
          <p:cNvSpPr txBox="1"/>
          <p:nvPr/>
        </p:nvSpPr>
        <p:spPr>
          <a:xfrm>
            <a:off x="2377440" y="33649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被改過先備份再還原；個人 skill 不碰</a:t>
            </a:r>
            <a:endParaRPr lang="zh-TW" sz="1300" dirty="0"/>
          </a:p>
        </p:txBody>
      </p:sp>
      <p:sp>
        <p:nvSpPr>
          <p:cNvPr id="23" name="num-bg-141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-142"/>
          <p:cNvSpPr txBox="1"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6</a:t>
            </a:r>
            <a:endParaRPr lang="zh-TW" sz="1400" dirty="0"/>
          </a:p>
        </p:txBody>
      </p:sp>
      <p:sp>
        <p:nvSpPr>
          <p:cNvPr id="25" name="text-143"/>
          <p:cNvSpPr txBox="1"/>
          <p:nvPr/>
        </p:nvSpPr>
        <p:spPr>
          <a:xfrm>
            <a:off x="1005840" y="39319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回報心跳</a:t>
            </a:r>
            <a:endParaRPr lang="zh-TW" sz="1500" dirty="0"/>
          </a:p>
        </p:txBody>
      </p:sp>
      <p:sp>
        <p:nvSpPr>
          <p:cNvPr id="26" name="text-144"/>
          <p:cNvSpPr txBox="1"/>
          <p:nvPr/>
        </p:nvSpPr>
        <p:spPr>
          <a:xfrm>
            <a:off x="2377440" y="3931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版本、狀態、IDE 版本寫到共用位置</a:t>
            </a:r>
            <a:endParaRPr lang="zh-TW" sz="1300" dirty="0"/>
          </a:p>
        </p:txBody>
      </p:sp>
      <p:sp>
        <p:nvSpPr>
          <p:cNvPr id="27" name="card-145"/>
          <p:cNvSpPr/>
          <p:nvPr/>
        </p:nvSpPr>
        <p:spPr>
          <a:xfrm>
            <a:off x="5760720" y="1097280"/>
            <a:ext cx="2926080" cy="34290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-146"/>
          <p:cNvSpPr txBox="1"/>
          <p:nvPr/>
        </p:nvSpPr>
        <p:spPr>
          <a:xfrm>
            <a:off x="598932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什麼時候執行</a:t>
            </a:r>
            <a:endParaRPr lang="zh-TW" sz="1600" dirty="0"/>
          </a:p>
        </p:txBody>
      </p:sp>
      <p:sp>
        <p:nvSpPr>
          <p:cNvPr id="29" name="icon-bg-147"/>
          <p:cNvSpPr/>
          <p:nvPr/>
        </p:nvSpPr>
        <p:spPr>
          <a:xfrm>
            <a:off x="5989320" y="17373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1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659" y="1842699"/>
            <a:ext cx="228234" cy="228234"/>
          </a:xfrm>
          <a:prstGeom prst="rect">
            <a:avLst/>
          </a:prstGeom>
        </p:spPr>
      </p:pic>
      <p:sp>
        <p:nvSpPr>
          <p:cNvPr id="31" name="text-149"/>
          <p:cNvSpPr txBox="1"/>
          <p:nvPr/>
        </p:nvSpPr>
        <p:spPr>
          <a:xfrm>
            <a:off x="6583680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登入後 2 分鐘</a:t>
            </a:r>
            <a:endParaRPr lang="zh-TW" sz="1400" dirty="0"/>
          </a:p>
        </p:txBody>
      </p:sp>
      <p:sp>
        <p:nvSpPr>
          <p:cNvPr id="32" name="text-150"/>
          <p:cNvSpPr txBox="1"/>
          <p:nvPr/>
        </p:nvSpPr>
        <p:spPr>
          <a:xfrm>
            <a:off x="658368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等 VPN 和網路就緒</a:t>
            </a:r>
            <a:endParaRPr lang="zh-TW" sz="1200" dirty="0"/>
          </a:p>
        </p:txBody>
      </p:sp>
      <p:sp>
        <p:nvSpPr>
          <p:cNvPr id="33" name="icon-bg-151"/>
          <p:cNvSpPr/>
          <p:nvPr/>
        </p:nvSpPr>
        <p:spPr>
          <a:xfrm>
            <a:off x="5989320" y="24688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on-1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659" y="2574219"/>
            <a:ext cx="228234" cy="228234"/>
          </a:xfrm>
          <a:prstGeom prst="rect">
            <a:avLst/>
          </a:prstGeom>
        </p:spPr>
      </p:pic>
      <p:sp>
        <p:nvSpPr>
          <p:cNvPr id="35" name="text-153"/>
          <p:cNvSpPr txBox="1"/>
          <p:nvPr/>
        </p:nvSpPr>
        <p:spPr>
          <a:xfrm>
            <a:off x="658368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每天 09:30</a:t>
            </a:r>
            <a:endParaRPr lang="zh-TW" sz="1400" dirty="0"/>
          </a:p>
        </p:txBody>
      </p:sp>
      <p:sp>
        <p:nvSpPr>
          <p:cNvPr id="36" name="text-154"/>
          <p:cNvSpPr txBox="1"/>
          <p:nvPr/>
        </p:nvSpPr>
        <p:spPr>
          <a:xfrm>
            <a:off x="6583680" y="2715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隨機延遲 0～30 分鐘</a:t>
            </a:r>
            <a:endParaRPr lang="zh-TW" sz="1200" dirty="0"/>
          </a:p>
        </p:txBody>
      </p:sp>
      <p:sp>
        <p:nvSpPr>
          <p:cNvPr id="37" name="icon-bg-155"/>
          <p:cNvSpPr/>
          <p:nvPr/>
        </p:nvSpPr>
        <p:spPr>
          <a:xfrm>
            <a:off x="5989320" y="32004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con-15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659" y="3305739"/>
            <a:ext cx="228234" cy="228234"/>
          </a:xfrm>
          <a:prstGeom prst="rect">
            <a:avLst/>
          </a:prstGeom>
        </p:spPr>
      </p:pic>
      <p:sp>
        <p:nvSpPr>
          <p:cNvPr id="39" name="text-157"/>
          <p:cNvSpPr txBox="1"/>
          <p:nvPr/>
        </p:nvSpPr>
        <p:spPr>
          <a:xfrm>
            <a:off x="6583680" y="3172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隨時手動</a:t>
            </a:r>
            <a:endParaRPr lang="zh-TW" sz="1400" dirty="0"/>
          </a:p>
        </p:txBody>
      </p:sp>
      <p:sp>
        <p:nvSpPr>
          <p:cNvPr id="40" name="text-158"/>
          <p:cNvSpPr txBox="1"/>
          <p:nvPr/>
        </p:nvSpPr>
        <p:spPr>
          <a:xfrm>
            <a:off x="658368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一行指令立即同步</a:t>
            </a:r>
            <a:endParaRPr lang="zh-TW" sz="1200" dirty="0"/>
          </a:p>
        </p:txBody>
      </p:sp>
      <p:sp>
        <p:nvSpPr>
          <p:cNvPr id="41" name="text-159"/>
          <p:cNvSpPr txBox="1"/>
          <p:nvPr/>
        </p:nvSpPr>
        <p:spPr>
          <a:xfrm>
            <a:off x="598932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4"/>
                </a:solidFill>
              </a:rPr>
              <a:t>不需要系統管理員權限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各種狀況都有對應</a:t>
            </a:r>
            <a:endParaRPr lang="en-US" sz="2800" dirty="0"/>
          </a:p>
        </p:txBody>
      </p:sp>
      <p:sp>
        <p:nvSpPr>
          <p:cNvPr id="3" name="card-160"/>
          <p:cNvSpPr/>
          <p:nvPr/>
        </p:nvSpPr>
        <p:spPr>
          <a:xfrm>
            <a:off x="457200" y="10972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61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6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35608"/>
            <a:ext cx="237744" cy="237744"/>
          </a:xfrm>
          <a:prstGeom prst="rect">
            <a:avLst/>
          </a:prstGeom>
        </p:spPr>
      </p:pic>
      <p:sp>
        <p:nvSpPr>
          <p:cNvPr id="6" name="text-163"/>
          <p:cNvSpPr txBox="1"/>
          <p:nvPr/>
        </p:nvSpPr>
        <p:spPr>
          <a:xfrm>
            <a:off x="1280160" y="1325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本機被修改</a:t>
            </a:r>
            <a:endParaRPr lang="zh-TW" sz="1500" dirty="0"/>
          </a:p>
        </p:txBody>
      </p:sp>
      <p:sp>
        <p:nvSpPr>
          <p:cNvPr id="7" name="text-164"/>
          <p:cNvSpPr txBox="1"/>
          <p:nvPr/>
        </p:nvSpPr>
        <p:spPr>
          <a:xfrm>
            <a:off x="68580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備份到 backup 資料夾，還原官方版本並回報</a:t>
            </a:r>
            <a:endParaRPr lang="zh-TW" sz="1300" dirty="0"/>
          </a:p>
        </p:txBody>
      </p:sp>
      <p:sp>
        <p:nvSpPr>
          <p:cNvPr id="8" name="card-165"/>
          <p:cNvSpPr/>
          <p:nvPr/>
        </p:nvSpPr>
        <p:spPr>
          <a:xfrm>
            <a:off x="3291840" y="10972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166"/>
          <p:cNvSpPr/>
          <p:nvPr/>
        </p:nvSpPr>
        <p:spPr>
          <a:xfrm>
            <a:off x="35204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6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435608"/>
            <a:ext cx="237744" cy="237744"/>
          </a:xfrm>
          <a:prstGeom prst="rect">
            <a:avLst/>
          </a:prstGeom>
        </p:spPr>
      </p:pic>
      <p:sp>
        <p:nvSpPr>
          <p:cNvPr id="11" name="text-168"/>
          <p:cNvSpPr txBox="1"/>
          <p:nvPr/>
        </p:nvSpPr>
        <p:spPr>
          <a:xfrm>
            <a:off x="4114800" y="1325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改名或刪除</a:t>
            </a:r>
            <a:endParaRPr lang="zh-TW" sz="1500" dirty="0"/>
          </a:p>
        </p:txBody>
      </p:sp>
      <p:sp>
        <p:nvSpPr>
          <p:cNvPr id="12" name="text-169"/>
          <p:cNvSpPr txBox="1"/>
          <p:nvPr/>
        </p:nvSpPr>
        <p:spPr>
          <a:xfrm>
            <a:off x="352044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舊的自動移除，新的自動加入</a:t>
            </a:r>
            <a:endParaRPr lang="zh-TW" sz="1300" dirty="0"/>
          </a:p>
        </p:txBody>
      </p:sp>
      <p:sp>
        <p:nvSpPr>
          <p:cNvPr id="13" name="card-170"/>
          <p:cNvSpPr/>
          <p:nvPr/>
        </p:nvSpPr>
        <p:spPr>
          <a:xfrm>
            <a:off x="6126480" y="10972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171"/>
          <p:cNvSpPr/>
          <p:nvPr/>
        </p:nvSpPr>
        <p:spPr>
          <a:xfrm>
            <a:off x="635508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17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435608"/>
            <a:ext cx="237744" cy="237744"/>
          </a:xfrm>
          <a:prstGeom prst="rect">
            <a:avLst/>
          </a:prstGeom>
        </p:spPr>
      </p:pic>
      <p:sp>
        <p:nvSpPr>
          <p:cNvPr id="16" name="text-173"/>
          <p:cNvSpPr txBox="1"/>
          <p:nvPr/>
        </p:nvSpPr>
        <p:spPr>
          <a:xfrm>
            <a:off x="6949440" y="1325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GitLab 連不上</a:t>
            </a:r>
            <a:endParaRPr lang="zh-TW" sz="1500" dirty="0"/>
          </a:p>
        </p:txBody>
      </p:sp>
      <p:sp>
        <p:nvSpPr>
          <p:cNvPr id="17" name="text-174"/>
          <p:cNvSpPr txBox="1"/>
          <p:nvPr/>
        </p:nvSpPr>
        <p:spPr>
          <a:xfrm>
            <a:off x="635508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保留現有版本，儀表板標記同步失敗</a:t>
            </a:r>
            <a:endParaRPr lang="zh-TW" sz="1300" dirty="0"/>
          </a:p>
        </p:txBody>
      </p:sp>
      <p:sp>
        <p:nvSpPr>
          <p:cNvPr id="18" name="card-175"/>
          <p:cNvSpPr/>
          <p:nvPr/>
        </p:nvSpPr>
        <p:spPr>
          <a:xfrm>
            <a:off x="45720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176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17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218688"/>
            <a:ext cx="237744" cy="237744"/>
          </a:xfrm>
          <a:prstGeom prst="rect">
            <a:avLst/>
          </a:prstGeom>
        </p:spPr>
      </p:pic>
      <p:sp>
        <p:nvSpPr>
          <p:cNvPr id="21" name="text-178"/>
          <p:cNvSpPr txBox="1"/>
          <p:nvPr/>
        </p:nvSpPr>
        <p:spPr>
          <a:xfrm>
            <a:off x="1280160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個人 skill</a:t>
            </a:r>
            <a:endParaRPr lang="zh-TW" sz="1500" dirty="0"/>
          </a:p>
        </p:txBody>
      </p:sp>
      <p:sp>
        <p:nvSpPr>
          <p:cNvPr id="22" name="text-179"/>
          <p:cNvSpPr txBox="1"/>
          <p:nvPr/>
        </p:nvSpPr>
        <p:spPr>
          <a:xfrm>
            <a:off x="685800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沒有 cim- 前綴，同步程式完全不碰</a:t>
            </a:r>
            <a:endParaRPr lang="zh-TW" sz="1300" dirty="0"/>
          </a:p>
        </p:txBody>
      </p:sp>
      <p:sp>
        <p:nvSpPr>
          <p:cNvPr id="23" name="card-180"/>
          <p:cNvSpPr/>
          <p:nvPr/>
        </p:nvSpPr>
        <p:spPr>
          <a:xfrm>
            <a:off x="329184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-181"/>
          <p:cNvSpPr/>
          <p:nvPr/>
        </p:nvSpPr>
        <p:spPr>
          <a:xfrm>
            <a:off x="352044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18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3218688"/>
            <a:ext cx="237744" cy="237744"/>
          </a:xfrm>
          <a:prstGeom prst="rect">
            <a:avLst/>
          </a:prstGeom>
        </p:spPr>
      </p:pic>
      <p:sp>
        <p:nvSpPr>
          <p:cNvPr id="26" name="text-183"/>
          <p:cNvSpPr txBox="1"/>
          <p:nvPr/>
        </p:nvSpPr>
        <p:spPr>
          <a:xfrm>
            <a:off x="4114800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需要回滾</a:t>
            </a:r>
            <a:endParaRPr lang="zh-TW" sz="1500" dirty="0"/>
          </a:p>
        </p:txBody>
      </p:sp>
      <p:sp>
        <p:nvSpPr>
          <p:cNvPr id="27" name="text-184"/>
          <p:cNvSpPr txBox="1"/>
          <p:nvPr/>
        </p:nvSpPr>
        <p:spPr>
          <a:xfrm>
            <a:off x="3520440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全課發修正版；個人可以釘選版本</a:t>
            </a:r>
            <a:endParaRPr lang="zh-TW" sz="1300" dirty="0"/>
          </a:p>
        </p:txBody>
      </p:sp>
      <p:sp>
        <p:nvSpPr>
          <p:cNvPr id="28" name="card-185"/>
          <p:cNvSpPr/>
          <p:nvPr/>
        </p:nvSpPr>
        <p:spPr>
          <a:xfrm>
            <a:off x="612648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186"/>
          <p:cNvSpPr/>
          <p:nvPr/>
        </p:nvSpPr>
        <p:spPr>
          <a:xfrm>
            <a:off x="635508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18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218688"/>
            <a:ext cx="237744" cy="237744"/>
          </a:xfrm>
          <a:prstGeom prst="rect">
            <a:avLst/>
          </a:prstGeom>
        </p:spPr>
      </p:pic>
      <p:sp>
        <p:nvSpPr>
          <p:cNvPr id="31" name="text-188"/>
          <p:cNvSpPr txBox="1"/>
          <p:nvPr/>
        </p:nvSpPr>
        <p:spPr>
          <a:xfrm>
            <a:off x="6949440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工具本身更新</a:t>
            </a:r>
            <a:endParaRPr lang="zh-TW" sz="1500" dirty="0"/>
          </a:p>
        </p:txBody>
      </p:sp>
      <p:sp>
        <p:nvSpPr>
          <p:cNvPr id="32" name="text-189"/>
          <p:cNvSpPr txBox="1"/>
          <p:nvPr/>
        </p:nvSpPr>
        <p:spPr>
          <a:xfrm>
            <a:off x="6355080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同步程式跟著 tag 自動更新自己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誰沒更新，一眼看出來</a:t>
            </a:r>
            <a:endParaRPr lang="en-US" sz="2800" dirty="0"/>
          </a:p>
        </p:txBody>
      </p:sp>
      <p:sp>
        <p:nvSpPr>
          <p:cNvPr id="3" name="text-190"/>
          <p:cNvSpPr txBox="1"/>
          <p:nvPr/>
        </p:nvSpPr>
        <p:spPr>
          <a:xfrm>
            <a:off x="4572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每台電腦每次同步都回報</a:t>
            </a:r>
            <a:endParaRPr lang="zh-TW" sz="1600" dirty="0"/>
          </a:p>
        </p:txBody>
      </p:sp>
      <p:sp>
        <p:nvSpPr>
          <p:cNvPr id="4" name="icon-bg-191"/>
          <p:cNvSpPr/>
          <p:nvPr/>
        </p:nvSpPr>
        <p:spPr>
          <a:xfrm>
            <a:off x="457200" y="15544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9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204" y="1633484"/>
            <a:ext cx="171176" cy="171176"/>
          </a:xfrm>
          <a:prstGeom prst="rect">
            <a:avLst/>
          </a:prstGeom>
        </p:spPr>
      </p:pic>
      <p:sp>
        <p:nvSpPr>
          <p:cNvPr id="6" name="text-193"/>
          <p:cNvSpPr txBox="1"/>
          <p:nvPr/>
        </p:nvSpPr>
        <p:spPr>
          <a:xfrm>
            <a:off x="914400" y="1554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帳號與電腦名稱</a:t>
            </a:r>
            <a:endParaRPr lang="zh-TW" sz="1300" dirty="0"/>
          </a:p>
        </p:txBody>
      </p:sp>
      <p:sp>
        <p:nvSpPr>
          <p:cNvPr id="7" name="icon-bg-194"/>
          <p:cNvSpPr/>
          <p:nvPr/>
        </p:nvSpPr>
        <p:spPr>
          <a:xfrm>
            <a:off x="457200" y="20116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19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04" y="2090684"/>
            <a:ext cx="171176" cy="171176"/>
          </a:xfrm>
          <a:prstGeom prst="rect">
            <a:avLst/>
          </a:prstGeom>
        </p:spPr>
      </p:pic>
      <p:sp>
        <p:nvSpPr>
          <p:cNvPr id="9" name="text-196"/>
          <p:cNvSpPr txBox="1"/>
          <p:nvPr/>
        </p:nvSpPr>
        <p:spPr>
          <a:xfrm>
            <a:off x="914400" y="2011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安裝的版本與頻道</a:t>
            </a:r>
            <a:endParaRPr lang="zh-TW" sz="1300" dirty="0"/>
          </a:p>
        </p:txBody>
      </p:sp>
      <p:sp>
        <p:nvSpPr>
          <p:cNvPr id="10" name="icon-bg-197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19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04" y="2547884"/>
            <a:ext cx="171176" cy="171176"/>
          </a:xfrm>
          <a:prstGeom prst="rect">
            <a:avLst/>
          </a:prstGeom>
        </p:spPr>
      </p:pic>
      <p:sp>
        <p:nvSpPr>
          <p:cNvPr id="12" name="text-199"/>
          <p:cNvSpPr txBox="1"/>
          <p:nvPr/>
        </p:nvSpPr>
        <p:spPr>
          <a:xfrm>
            <a:off x="914400" y="2468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同步狀態與失敗原因</a:t>
            </a:r>
            <a:endParaRPr lang="zh-TW" sz="1300" dirty="0"/>
          </a:p>
        </p:txBody>
      </p:sp>
      <p:sp>
        <p:nvSpPr>
          <p:cNvPr id="13" name="icon-bg-200"/>
          <p:cNvSpPr/>
          <p:nvPr/>
        </p:nvSpPr>
        <p:spPr>
          <a:xfrm>
            <a:off x="457200" y="29260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20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04" y="3005084"/>
            <a:ext cx="171176" cy="171176"/>
          </a:xfrm>
          <a:prstGeom prst="rect">
            <a:avLst/>
          </a:prstGeom>
        </p:spPr>
      </p:pic>
      <p:sp>
        <p:nvSpPr>
          <p:cNvPr id="15" name="text-202"/>
          <p:cNvSpPr txBox="1"/>
          <p:nvPr/>
        </p:nvSpPr>
        <p:spPr>
          <a:xfrm>
            <a:off x="914400" y="2926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是否被本機修改</a:t>
            </a:r>
            <a:endParaRPr lang="zh-TW" sz="1300" dirty="0"/>
          </a:p>
        </p:txBody>
      </p:sp>
      <p:sp>
        <p:nvSpPr>
          <p:cNvPr id="16" name="icon-bg-203"/>
          <p:cNvSpPr/>
          <p:nvPr/>
        </p:nvSpPr>
        <p:spPr>
          <a:xfrm>
            <a:off x="457200" y="33832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20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04" y="3462284"/>
            <a:ext cx="171176" cy="171176"/>
          </a:xfrm>
          <a:prstGeom prst="rect">
            <a:avLst/>
          </a:prstGeom>
        </p:spPr>
      </p:pic>
      <p:sp>
        <p:nvSpPr>
          <p:cNvPr id="18" name="text-205"/>
          <p:cNvSpPr txBox="1"/>
          <p:nvPr/>
        </p:nvSpPr>
        <p:spPr>
          <a:xfrm>
            <a:off x="914400" y="3383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VS Code／Copilot／VS 版本</a:t>
            </a:r>
            <a:endParaRPr lang="zh-TW" sz="1300" dirty="0"/>
          </a:p>
        </p:txBody>
      </p:sp>
      <p:sp>
        <p:nvSpPr>
          <p:cNvPr id="19" name="text-206"/>
          <p:cNvSpPr txBox="1"/>
          <p:nvPr/>
        </p:nvSpPr>
        <p:spPr>
          <a:xfrm>
            <a:off x="45720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搭配成員名單，連「沒安裝」的人也找得出來</a:t>
            </a:r>
            <a:endParaRPr lang="zh-TW" sz="1300" dirty="0"/>
          </a:p>
        </p:txBody>
      </p:sp>
      <p:sp>
        <p:nvSpPr>
          <p:cNvPr id="20" name="card-207"/>
          <p:cNvSpPr/>
          <p:nvPr/>
        </p:nvSpPr>
        <p:spPr>
          <a:xfrm>
            <a:off x="3931920" y="1097280"/>
            <a:ext cx="475488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21" name="text-208"/>
          <p:cNvSpPr txBox="1"/>
          <p:nvPr/>
        </p:nvSpPr>
        <p:spPr>
          <a:xfrm>
            <a:off x="411480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版本儀表板（示意畫面）</a:t>
            </a:r>
            <a:endParaRPr lang="zh-TW" sz="1200" dirty="0"/>
          </a:p>
        </p:txBody>
      </p:sp>
      <p:sp>
        <p:nvSpPr>
          <p:cNvPr id="22" name="text-209"/>
          <p:cNvSpPr txBox="1"/>
          <p:nvPr/>
        </p:nvSpPr>
        <p:spPr>
          <a:xfrm>
            <a:off x="6949440" y="1207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最新版 v1.2.0</a:t>
            </a:r>
            <a:endParaRPr lang="zh-TW" sz="1200" dirty="0"/>
          </a:p>
        </p:txBody>
      </p:sp>
      <p:graphicFrame>
        <p:nvGraphicFramePr>
          <p:cNvPr id="11" name="table-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600200"/>
          <a:ext cx="4389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14300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狀態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姓名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版本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最後回報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未安裝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王小明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同步失敗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林大同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v1.1.0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10/12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落後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陳小華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v1.1.0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10/13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太久未回報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張　三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v1.2.0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釘選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李　四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v1.1.0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10/13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最新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周小美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v1.2.0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10/13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治理：從提案到全課生效</a:t>
            </a:r>
            <a:endParaRPr lang="en-US" sz="2800" dirty="0"/>
          </a:p>
        </p:txBody>
      </p:sp>
      <p:sp>
        <p:nvSpPr>
          <p:cNvPr id="3" name="timeline-211"/>
          <p:cNvSpPr/>
          <p:nvPr/>
        </p:nvSpPr>
        <p:spPr>
          <a:xfrm>
            <a:off x="1143000" y="1645920"/>
            <a:ext cx="6858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num-bg-212"/>
          <p:cNvSpPr/>
          <p:nvPr/>
        </p:nvSpPr>
        <p:spPr>
          <a:xfrm>
            <a:off x="91440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213"/>
          <p:cNvSpPr txBox="1"/>
          <p:nvPr/>
        </p:nvSpPr>
        <p:spPr>
          <a:xfrm>
            <a:off x="9144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zh-TW" sz="1400" dirty="0"/>
          </a:p>
        </p:txBody>
      </p:sp>
      <p:sp>
        <p:nvSpPr>
          <p:cNvPr id="6" name="text-214"/>
          <p:cNvSpPr txBox="1"/>
          <p:nvPr/>
        </p:nvSpPr>
        <p:spPr>
          <a:xfrm>
            <a:off x="502920" y="1984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開分支修改</a:t>
            </a:r>
            <a:endParaRPr lang="zh-TW" sz="1400" dirty="0"/>
          </a:p>
        </p:txBody>
      </p:sp>
      <p:sp>
        <p:nvSpPr>
          <p:cNvPr id="7" name="text-215"/>
          <p:cNvSpPr txBox="1"/>
          <p:nvPr/>
        </p:nvSpPr>
        <p:spPr>
          <a:xfrm>
            <a:off x="530352" y="2313432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先在自己的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IDE 測試</a:t>
            </a:r>
            <a:endParaRPr lang="zh-TW" sz="1200" dirty="0"/>
          </a:p>
        </p:txBody>
      </p:sp>
      <p:sp>
        <p:nvSpPr>
          <p:cNvPr id="8" name="num-bg-216"/>
          <p:cNvSpPr/>
          <p:nvPr/>
        </p:nvSpPr>
        <p:spPr>
          <a:xfrm>
            <a:off x="228600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-217"/>
          <p:cNvSpPr txBox="1"/>
          <p:nvPr/>
        </p:nvSpPr>
        <p:spPr>
          <a:xfrm>
            <a:off x="2286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zh-TW" sz="1400" dirty="0"/>
          </a:p>
        </p:txBody>
      </p:sp>
      <p:sp>
        <p:nvSpPr>
          <p:cNvPr id="10" name="text-218"/>
          <p:cNvSpPr txBox="1"/>
          <p:nvPr/>
        </p:nvSpPr>
        <p:spPr>
          <a:xfrm>
            <a:off x="1874520" y="1984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發 MR</a:t>
            </a:r>
            <a:endParaRPr lang="zh-TW" sz="1400" dirty="0"/>
          </a:p>
        </p:txBody>
      </p:sp>
      <p:sp>
        <p:nvSpPr>
          <p:cNvPr id="11" name="text-219"/>
          <p:cNvSpPr txBox="1"/>
          <p:nvPr/>
        </p:nvSpPr>
        <p:spPr>
          <a:xfrm>
            <a:off x="1901952" y="2313432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CI 檢查格式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與機密</a:t>
            </a:r>
            <a:endParaRPr lang="zh-TW" sz="1200" dirty="0"/>
          </a:p>
        </p:txBody>
      </p:sp>
      <p:sp>
        <p:nvSpPr>
          <p:cNvPr id="12" name="num-bg-220"/>
          <p:cNvSpPr/>
          <p:nvPr/>
        </p:nvSpPr>
        <p:spPr>
          <a:xfrm>
            <a:off x="365760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221"/>
          <p:cNvSpPr txBox="1"/>
          <p:nvPr/>
        </p:nvSpPr>
        <p:spPr>
          <a:xfrm>
            <a:off x="3657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zh-TW" sz="1400" dirty="0"/>
          </a:p>
        </p:txBody>
      </p:sp>
      <p:sp>
        <p:nvSpPr>
          <p:cNvPr id="14" name="text-222"/>
          <p:cNvSpPr txBox="1"/>
          <p:nvPr/>
        </p:nvSpPr>
        <p:spPr>
          <a:xfrm>
            <a:off x="3246120" y="1984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審核</a:t>
            </a:r>
            <a:endParaRPr lang="zh-TW" sz="1400" dirty="0"/>
          </a:p>
        </p:txBody>
      </p:sp>
      <p:sp>
        <p:nvSpPr>
          <p:cNvPr id="15" name="text-223"/>
          <p:cNvSpPr txBox="1"/>
          <p:nvPr/>
        </p:nvSpPr>
        <p:spPr>
          <a:xfrm>
            <a:off x="3273552" y="2313432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CODEOWNERS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維護者</a:t>
            </a:r>
            <a:endParaRPr lang="zh-TW" sz="1200" dirty="0"/>
          </a:p>
        </p:txBody>
      </p:sp>
      <p:sp>
        <p:nvSpPr>
          <p:cNvPr id="16" name="num-bg-224"/>
          <p:cNvSpPr/>
          <p:nvPr/>
        </p:nvSpPr>
        <p:spPr>
          <a:xfrm>
            <a:off x="502920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-225"/>
          <p:cNvSpPr txBox="1"/>
          <p:nvPr/>
        </p:nvSpPr>
        <p:spPr>
          <a:xfrm>
            <a:off x="5029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zh-TW" sz="1400" dirty="0"/>
          </a:p>
        </p:txBody>
      </p:sp>
      <p:sp>
        <p:nvSpPr>
          <p:cNvPr id="18" name="text-226"/>
          <p:cNvSpPr txBox="1"/>
          <p:nvPr/>
        </p:nvSpPr>
        <p:spPr>
          <a:xfrm>
            <a:off x="4617720" y="1984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合併 main</a:t>
            </a:r>
            <a:endParaRPr lang="zh-TW" sz="1400" dirty="0"/>
          </a:p>
        </p:txBody>
      </p:sp>
      <p:sp>
        <p:nvSpPr>
          <p:cNvPr id="19" name="text-227"/>
          <p:cNvSpPr txBox="1"/>
          <p:nvPr/>
        </p:nvSpPr>
        <p:spPr>
          <a:xfrm>
            <a:off x="4645152" y="2313432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beta 頻道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試用 1～3 天</a:t>
            </a:r>
            <a:endParaRPr lang="zh-TW" sz="1200" dirty="0"/>
          </a:p>
        </p:txBody>
      </p:sp>
      <p:sp>
        <p:nvSpPr>
          <p:cNvPr id="20" name="num-bg-228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-229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zh-TW" sz="1400" dirty="0"/>
          </a:p>
        </p:txBody>
      </p:sp>
      <p:sp>
        <p:nvSpPr>
          <p:cNvPr id="22" name="text-230"/>
          <p:cNvSpPr txBox="1"/>
          <p:nvPr/>
        </p:nvSpPr>
        <p:spPr>
          <a:xfrm>
            <a:off x="5989320" y="1984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打 tag</a:t>
            </a:r>
            <a:endParaRPr lang="zh-TW" sz="1400" dirty="0"/>
          </a:p>
        </p:txBody>
      </p:sp>
      <p:sp>
        <p:nvSpPr>
          <p:cNvPr id="23" name="text-231"/>
          <p:cNvSpPr txBox="1"/>
          <p:nvPr/>
        </p:nvSpPr>
        <p:spPr>
          <a:xfrm>
            <a:off x="6016752" y="2313432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更新 VERSION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與 CHANGELOG</a:t>
            </a:r>
            <a:endParaRPr lang="zh-TW" sz="1200" dirty="0"/>
          </a:p>
        </p:txBody>
      </p:sp>
      <p:sp>
        <p:nvSpPr>
          <p:cNvPr id="24" name="num-bg-232"/>
          <p:cNvSpPr/>
          <p:nvPr/>
        </p:nvSpPr>
        <p:spPr>
          <a:xfrm>
            <a:off x="7772400" y="1417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-233"/>
          <p:cNvSpPr txBox="1"/>
          <p:nvPr/>
        </p:nvSpPr>
        <p:spPr>
          <a:xfrm>
            <a:off x="77724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6</a:t>
            </a:r>
            <a:endParaRPr lang="zh-TW" sz="1400" dirty="0"/>
          </a:p>
        </p:txBody>
      </p:sp>
      <p:sp>
        <p:nvSpPr>
          <p:cNvPr id="26" name="text-234"/>
          <p:cNvSpPr txBox="1"/>
          <p:nvPr/>
        </p:nvSpPr>
        <p:spPr>
          <a:xfrm>
            <a:off x="7360920" y="1984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全課更新</a:t>
            </a:r>
            <a:endParaRPr lang="zh-TW" sz="1400" dirty="0"/>
          </a:p>
        </p:txBody>
      </p:sp>
      <p:sp>
        <p:nvSpPr>
          <p:cNvPr id="27" name="text-235"/>
          <p:cNvSpPr txBox="1"/>
          <p:nvPr/>
        </p:nvSpPr>
        <p:spPr>
          <a:xfrm>
            <a:off x="7388352" y="2313432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自動同步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課內公告</a:t>
            </a:r>
            <a:endParaRPr lang="zh-TW" sz="1200" dirty="0"/>
          </a:p>
        </p:txBody>
      </p:sp>
      <p:sp>
        <p:nvSpPr>
          <p:cNvPr id="28" name="card-236"/>
          <p:cNvSpPr/>
          <p:nvPr/>
        </p:nvSpPr>
        <p:spPr>
          <a:xfrm>
            <a:off x="457200" y="306324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237"/>
          <p:cNvSpPr/>
          <p:nvPr/>
        </p:nvSpPr>
        <p:spPr>
          <a:xfrm>
            <a:off x="658368" y="32644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2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3363163"/>
            <a:ext cx="213970" cy="213970"/>
          </a:xfrm>
          <a:prstGeom prst="rect">
            <a:avLst/>
          </a:prstGeom>
        </p:spPr>
      </p:pic>
      <p:sp>
        <p:nvSpPr>
          <p:cNvPr id="31" name="text-239"/>
          <p:cNvSpPr txBox="1"/>
          <p:nvPr/>
        </p:nvSpPr>
        <p:spPr>
          <a:xfrm>
            <a:off x="1188720" y="326440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權限</a:t>
            </a:r>
            <a:endParaRPr lang="zh-TW" sz="1500" dirty="0"/>
          </a:p>
        </p:txBody>
      </p:sp>
      <p:sp>
        <p:nvSpPr>
          <p:cNvPr id="32" name="text-240"/>
          <p:cNvSpPr txBox="1"/>
          <p:nvPr/>
        </p:nvSpPr>
        <p:spPr>
          <a:xfrm>
            <a:off x="1188720" y="372160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全課 Reporter（可讀即可同步）</a:t>
            </a:r>
            <a:endParaRPr lang="zh-TW" sz="1200" dirty="0"/>
          </a:p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貢獻者 Developer｜維護小組 Maintainer</a:t>
            </a:r>
            <a:endParaRPr lang="zh-TW" sz="1200" dirty="0"/>
          </a:p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main 分支與 v* tag 都受保護</a:t>
            </a:r>
            <a:endParaRPr lang="zh-TW" sz="1200" dirty="0"/>
          </a:p>
        </p:txBody>
      </p:sp>
      <p:sp>
        <p:nvSpPr>
          <p:cNvPr id="33" name="card-241"/>
          <p:cNvSpPr/>
          <p:nvPr/>
        </p:nvSpPr>
        <p:spPr>
          <a:xfrm>
            <a:off x="4709160" y="306324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icon-bg-242"/>
          <p:cNvSpPr/>
          <p:nvPr/>
        </p:nvSpPr>
        <p:spPr>
          <a:xfrm>
            <a:off x="4910328" y="32644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con-2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083" y="3363163"/>
            <a:ext cx="213970" cy="213970"/>
          </a:xfrm>
          <a:prstGeom prst="rect">
            <a:avLst/>
          </a:prstGeom>
        </p:spPr>
      </p:pic>
      <p:sp>
        <p:nvSpPr>
          <p:cNvPr id="36" name="text-244"/>
          <p:cNvSpPr txBox="1"/>
          <p:nvPr/>
        </p:nvSpPr>
        <p:spPr>
          <a:xfrm>
            <a:off x="5440680" y="326440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版本規則（SemVer）</a:t>
            </a:r>
            <a:endParaRPr lang="zh-TW" sz="1500" dirty="0"/>
          </a:p>
        </p:txBody>
      </p:sp>
      <p:sp>
        <p:nvSpPr>
          <p:cNvPr id="37" name="text-245"/>
          <p:cNvSpPr txBox="1"/>
          <p:nvPr/>
        </p:nvSpPr>
        <p:spPr>
          <a:xfrm>
            <a:off x="5440680" y="372160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MAJOR：刪除或改名 skill</a:t>
            </a:r>
            <a:endParaRPr lang="zh-TW" sz="1200" dirty="0"/>
          </a:p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MINOR：新增 skill 或新能力</a:t>
            </a:r>
            <a:endParaRPr lang="zh-TW" sz="1200" dirty="0"/>
          </a:p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PATCH：修正文字或錯誤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POC 進度</a:t>
            </a:r>
            <a:endParaRPr lang="en-US" sz="2800" dirty="0"/>
          </a:p>
        </p:txBody>
      </p:sp>
      <p:sp>
        <p:nvSpPr>
          <p:cNvPr id="3" name="card-246"/>
          <p:cNvSpPr/>
          <p:nvPr/>
        </p:nvSpPr>
        <p:spPr>
          <a:xfrm>
            <a:off x="457200" y="109728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247"/>
          <p:cNvSpPr txBox="1"/>
          <p:nvPr/>
        </p:nvSpPr>
        <p:spPr>
          <a:xfrm>
            <a:off x="640080" y="1170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600" b="1" dirty="0">
                <a:solidFill>
                  <a:schemeClr val="accent2"/>
                </a:solidFill>
              </a:rPr>
              <a:t>60/60</a:t>
            </a:r>
            <a:endParaRPr lang="zh-TW" sz="3600" dirty="0"/>
          </a:p>
        </p:txBody>
      </p:sp>
      <p:sp>
        <p:nvSpPr>
          <p:cNvPr id="5" name="text-248"/>
          <p:cNvSpPr txBox="1"/>
          <p:nvPr/>
        </p:nvSpPr>
        <p:spPr>
          <a:xfrm>
            <a:off x="64008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自動化情境測試通過</a:t>
            </a:r>
            <a:endParaRPr lang="zh-TW" sz="1200" dirty="0"/>
          </a:p>
        </p:txBody>
      </p:sp>
      <p:sp>
        <p:nvSpPr>
          <p:cNvPr id="6" name="card-249"/>
          <p:cNvSpPr/>
          <p:nvPr/>
        </p:nvSpPr>
        <p:spPr>
          <a:xfrm>
            <a:off x="3291840" y="109728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-250"/>
          <p:cNvSpPr txBox="1"/>
          <p:nvPr/>
        </p:nvSpPr>
        <p:spPr>
          <a:xfrm>
            <a:off x="3474720" y="1170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600" b="1" dirty="0">
                <a:solidFill>
                  <a:schemeClr val="accent2"/>
                </a:solidFill>
              </a:rPr>
              <a:t>0</a:t>
            </a:r>
            <a:endParaRPr lang="zh-TW" sz="3600" dirty="0"/>
          </a:p>
        </p:txBody>
      </p:sp>
      <p:sp>
        <p:nvSpPr>
          <p:cNvPr id="8" name="text-251"/>
          <p:cNvSpPr txBox="1"/>
          <p:nvPr/>
        </p:nvSpPr>
        <p:spPr>
          <a:xfrm>
            <a:off x="347472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PowerShell 5.1 相容性問題</a:t>
            </a:r>
            <a:endParaRPr lang="zh-TW" sz="1200" dirty="0"/>
          </a:p>
        </p:txBody>
      </p:sp>
      <p:sp>
        <p:nvSpPr>
          <p:cNvPr id="9" name="card-252"/>
          <p:cNvSpPr/>
          <p:nvPr/>
        </p:nvSpPr>
        <p:spPr>
          <a:xfrm>
            <a:off x="6126480" y="109728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-253"/>
          <p:cNvSpPr txBox="1"/>
          <p:nvPr/>
        </p:nvSpPr>
        <p:spPr>
          <a:xfrm>
            <a:off x="6309360" y="1170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600" b="1" dirty="0">
                <a:solidFill>
                  <a:schemeClr val="accent2"/>
                </a:solidFill>
              </a:rPr>
              <a:t>18</a:t>
            </a:r>
            <a:endParaRPr lang="zh-TW" sz="3600" dirty="0"/>
          </a:p>
        </p:txBody>
      </p:sp>
      <p:sp>
        <p:nvSpPr>
          <p:cNvPr id="11" name="text-254"/>
          <p:cNvSpPr txBox="1"/>
          <p:nvPr/>
        </p:nvSpPr>
        <p:spPr>
          <a:xfrm>
            <a:off x="630936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POC 檔案：同步、安裝、儀表板、CI、範例 skill</a:t>
            </a:r>
            <a:endParaRPr lang="zh-TW" sz="1200" dirty="0"/>
          </a:p>
        </p:txBody>
      </p:sp>
      <p:sp>
        <p:nvSpPr>
          <p:cNvPr id="12" name="icon-bg-255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con-2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372" y="2789652"/>
            <a:ext cx="199705" cy="199705"/>
          </a:xfrm>
          <a:prstGeom prst="rect">
            <a:avLst/>
          </a:prstGeom>
        </p:spPr>
      </p:pic>
      <p:sp>
        <p:nvSpPr>
          <p:cNvPr id="14" name="text-257"/>
          <p:cNvSpPr txBox="1"/>
          <p:nvPr/>
        </p:nvSpPr>
        <p:spPr>
          <a:xfrm>
            <a:off x="960120" y="2697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已在模擬環境驗證</a:t>
            </a:r>
            <a:endParaRPr lang="zh-TW" sz="1500" dirty="0"/>
          </a:p>
        </p:txBody>
      </p:sp>
      <p:sp>
        <p:nvSpPr>
          <p:cNvPr id="15" name="text-258"/>
          <p:cNvSpPr txBox="1"/>
          <p:nvPr/>
        </p:nvSpPr>
        <p:spPr>
          <a:xfrm>
            <a:off x="502920" y="32004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安裝、更新、回滾、beta 頻道</a:t>
            </a:r>
            <a:endParaRPr lang="zh-TW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本機修改的還原與備份</a:t>
            </a:r>
            <a:endParaRPr lang="zh-TW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斷線處理、同時執行保護</a:t>
            </a:r>
            <a:endParaRPr lang="zh-TW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儀表板分類、CI 擋下錯誤</a:t>
            </a:r>
            <a:endParaRPr lang="zh-TW" sz="1300" dirty="0"/>
          </a:p>
        </p:txBody>
      </p:sp>
      <p:sp>
        <p:nvSpPr>
          <p:cNvPr id="16" name="icon-bg-259"/>
          <p:cNvSpPr/>
          <p:nvPr/>
        </p:nvSpPr>
        <p:spPr>
          <a:xfrm>
            <a:off x="4709160" y="26974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26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332" y="2789652"/>
            <a:ext cx="199705" cy="199705"/>
          </a:xfrm>
          <a:prstGeom prst="rect">
            <a:avLst/>
          </a:prstGeom>
        </p:spPr>
      </p:pic>
      <p:sp>
        <p:nvSpPr>
          <p:cNvPr id="18" name="text-261"/>
          <p:cNvSpPr txBox="1"/>
          <p:nvPr/>
        </p:nvSpPr>
        <p:spPr>
          <a:xfrm>
            <a:off x="5212080" y="2697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待公司電腦實測</a:t>
            </a:r>
            <a:endParaRPr lang="zh-TW" sz="1500" dirty="0"/>
          </a:p>
        </p:txBody>
      </p:sp>
      <p:sp>
        <p:nvSpPr>
          <p:cNvPr id="19" name="text-262"/>
          <p:cNvSpPr txBox="1"/>
          <p:nvPr/>
        </p:nvSpPr>
        <p:spPr>
          <a:xfrm>
            <a:off x="4754880" y="32004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Windows 工作排程器</a:t>
            </a:r>
            <a:endParaRPr lang="zh-TW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GitLab 登入（Git Credential Manager）</a:t>
            </a:r>
            <a:endParaRPr lang="zh-TW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共用資料夾寫入</a:t>
            </a:r>
            <a:endParaRPr lang="zh-TW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VS／VS Code 實際讀取，VS 2022 是否支援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驗收指標</a:t>
            </a:r>
            <a:endParaRPr lang="en-US" sz="2800" dirty="0"/>
          </a:p>
        </p:txBody>
      </p:sp>
      <p:sp>
        <p:nvSpPr>
          <p:cNvPr id="3" name="card-263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64"/>
          <p:cNvSpPr txBox="1"/>
          <p:nvPr/>
        </p:nvSpPr>
        <p:spPr>
          <a:xfrm>
            <a:off x="685800" y="10972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1"/>
                </a:solidFill>
              </a:rPr>
              <a:t>≤ 5 分鐘</a:t>
            </a:r>
            <a:endParaRPr lang="zh-TW" sz="2200" dirty="0"/>
          </a:p>
        </p:txBody>
      </p:sp>
      <p:sp>
        <p:nvSpPr>
          <p:cNvPr id="5" name="text-265"/>
          <p:cNvSpPr txBox="1"/>
          <p:nvPr/>
        </p:nvSpPr>
        <p:spPr>
          <a:xfrm>
            <a:off x="2743200" y="1097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新成員安裝</a:t>
            </a:r>
            <a:endParaRPr lang="zh-TW" sz="1500" dirty="0"/>
          </a:p>
        </p:txBody>
      </p:sp>
      <p:sp>
        <p:nvSpPr>
          <p:cNvPr id="6" name="text-266"/>
          <p:cNvSpPr txBox="1"/>
          <p:nvPr/>
        </p:nvSpPr>
        <p:spPr>
          <a:xfrm>
            <a:off x="5486400" y="1097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一行指令，免系統管理員權限</a:t>
            </a:r>
            <a:endParaRPr lang="zh-TW" sz="1300" dirty="0"/>
          </a:p>
        </p:txBody>
      </p:sp>
      <p:sp>
        <p:nvSpPr>
          <p:cNvPr id="7" name="card-267"/>
          <p:cNvSpPr/>
          <p:nvPr/>
        </p:nvSpPr>
        <p:spPr>
          <a:xfrm>
            <a:off x="457200" y="17830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-268"/>
          <p:cNvSpPr txBox="1"/>
          <p:nvPr/>
        </p:nvSpPr>
        <p:spPr>
          <a:xfrm>
            <a:off x="68580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1"/>
                </a:solidFill>
              </a:rPr>
              <a:t>≥ 90%</a:t>
            </a:r>
            <a:endParaRPr lang="zh-TW" sz="2200" dirty="0"/>
          </a:p>
        </p:txBody>
      </p:sp>
      <p:sp>
        <p:nvSpPr>
          <p:cNvPr id="9" name="text-269"/>
          <p:cNvSpPr txBox="1"/>
          <p:nvPr/>
        </p:nvSpPr>
        <p:spPr>
          <a:xfrm>
            <a:off x="274320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發版後 24 小時內更新</a:t>
            </a:r>
            <a:endParaRPr lang="zh-TW" sz="1500" dirty="0"/>
          </a:p>
        </p:txBody>
      </p:sp>
      <p:sp>
        <p:nvSpPr>
          <p:cNvPr id="10" name="text-270"/>
          <p:cNvSpPr txBox="1"/>
          <p:nvPr/>
        </p:nvSpPr>
        <p:spPr>
          <a:xfrm>
            <a:off x="5486400" y="1783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以儀表板的版本分布計算</a:t>
            </a:r>
            <a:endParaRPr lang="zh-TW" sz="1300" dirty="0"/>
          </a:p>
        </p:txBody>
      </p:sp>
      <p:sp>
        <p:nvSpPr>
          <p:cNvPr id="11" name="card-271"/>
          <p:cNvSpPr/>
          <p:nvPr/>
        </p:nvSpPr>
        <p:spPr>
          <a:xfrm>
            <a:off x="457200" y="24688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272"/>
          <p:cNvSpPr txBox="1"/>
          <p:nvPr/>
        </p:nvSpPr>
        <p:spPr>
          <a:xfrm>
            <a:off x="685800" y="24688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1"/>
                </a:solidFill>
              </a:rPr>
              <a:t>100%</a:t>
            </a:r>
            <a:endParaRPr lang="zh-TW" sz="2200" dirty="0"/>
          </a:p>
        </p:txBody>
      </p:sp>
      <p:sp>
        <p:nvSpPr>
          <p:cNvPr id="13" name="text-273"/>
          <p:cNvSpPr txBox="1"/>
          <p:nvPr/>
        </p:nvSpPr>
        <p:spPr>
          <a:xfrm>
            <a:off x="2743200" y="24688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成員狀態可見</a:t>
            </a:r>
            <a:endParaRPr lang="zh-TW" sz="1500" dirty="0"/>
          </a:p>
        </p:txBody>
      </p:sp>
      <p:sp>
        <p:nvSpPr>
          <p:cNvPr id="14" name="text-274"/>
          <p:cNvSpPr txBox="1"/>
          <p:nvPr/>
        </p:nvSpPr>
        <p:spPr>
          <a:xfrm>
            <a:off x="5486400" y="24688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包含沒有安裝的人</a:t>
            </a:r>
            <a:endParaRPr lang="zh-TW" sz="1300" dirty="0"/>
          </a:p>
        </p:txBody>
      </p:sp>
      <p:sp>
        <p:nvSpPr>
          <p:cNvPr id="15" name="card-275"/>
          <p:cNvSpPr/>
          <p:nvPr/>
        </p:nvSpPr>
        <p:spPr>
          <a:xfrm>
            <a:off x="457200" y="31546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-276"/>
          <p:cNvSpPr txBox="1"/>
          <p:nvPr/>
        </p:nvSpPr>
        <p:spPr>
          <a:xfrm>
            <a:off x="685800" y="31546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1"/>
                </a:solidFill>
              </a:rPr>
              <a:t>≤ 1 天</a:t>
            </a:r>
            <a:endParaRPr lang="zh-TW" sz="2200" dirty="0"/>
          </a:p>
        </p:txBody>
      </p:sp>
      <p:sp>
        <p:nvSpPr>
          <p:cNvPr id="17" name="text-277"/>
          <p:cNvSpPr txBox="1"/>
          <p:nvPr/>
        </p:nvSpPr>
        <p:spPr>
          <a:xfrm>
            <a:off x="2743200" y="3154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回滾全課生效</a:t>
            </a:r>
            <a:endParaRPr lang="zh-TW" sz="1500" dirty="0"/>
          </a:p>
        </p:txBody>
      </p:sp>
      <p:sp>
        <p:nvSpPr>
          <p:cNvPr id="18" name="text-278"/>
          <p:cNvSpPr txBox="1"/>
          <p:nvPr/>
        </p:nvSpPr>
        <p:spPr>
          <a:xfrm>
            <a:off x="5486400" y="3154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發修正版後隔天儀表板確認</a:t>
            </a:r>
            <a:endParaRPr lang="zh-TW" sz="1300" dirty="0"/>
          </a:p>
        </p:txBody>
      </p:sp>
      <p:sp>
        <p:nvSpPr>
          <p:cNvPr id="19" name="card-279"/>
          <p:cNvSpPr/>
          <p:nvPr/>
        </p:nvSpPr>
        <p:spPr>
          <a:xfrm>
            <a:off x="457200" y="38404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280"/>
          <p:cNvSpPr txBox="1"/>
          <p:nvPr/>
        </p:nvSpPr>
        <p:spPr>
          <a:xfrm>
            <a:off x="685800" y="3840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accent1"/>
                </a:solidFill>
              </a:rPr>
              <a:t>0 次</a:t>
            </a:r>
            <a:endParaRPr lang="zh-TW" sz="2200" dirty="0"/>
          </a:p>
        </p:txBody>
      </p:sp>
      <p:sp>
        <p:nvSpPr>
          <p:cNvPr id="21" name="text-281"/>
          <p:cNvSpPr txBox="1"/>
          <p:nvPr/>
        </p:nvSpPr>
        <p:spPr>
          <a:xfrm>
            <a:off x="2743200" y="3840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因同步中斷開發</a:t>
            </a:r>
            <a:endParaRPr lang="zh-TW" sz="1500" dirty="0"/>
          </a:p>
        </p:txBody>
      </p:sp>
      <p:sp>
        <p:nvSpPr>
          <p:cNvPr id="22" name="text-282"/>
          <p:cNvSpPr txBox="1"/>
          <p:nvPr/>
        </p:nvSpPr>
        <p:spPr>
          <a:xfrm>
            <a:off x="5486400" y="3840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5"/>
                </a:solidFill>
              </a:rPr>
              <a:t>兩週試行期間統計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五週時程</a:t>
            </a:r>
            <a:endParaRPr lang="en-US" sz="2800" dirty="0"/>
          </a:p>
        </p:txBody>
      </p:sp>
      <p:sp>
        <p:nvSpPr>
          <p:cNvPr id="3" name="week-pill-283"/>
          <p:cNvSpPr/>
          <p:nvPr/>
        </p:nvSpPr>
        <p:spPr>
          <a:xfrm>
            <a:off x="457200" y="1143000"/>
            <a:ext cx="1481328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-284"/>
          <p:cNvSpPr txBox="1"/>
          <p:nvPr/>
        </p:nvSpPr>
        <p:spPr>
          <a:xfrm>
            <a:off x="457200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W1</a:t>
            </a:r>
            <a:endParaRPr lang="zh-TW" sz="1600" dirty="0"/>
          </a:p>
        </p:txBody>
      </p:sp>
      <p:sp>
        <p:nvSpPr>
          <p:cNvPr id="5" name="card-285"/>
          <p:cNvSpPr/>
          <p:nvPr/>
        </p:nvSpPr>
        <p:spPr>
          <a:xfrm>
            <a:off x="457200" y="1783080"/>
            <a:ext cx="1481328" cy="19202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86"/>
          <p:cNvSpPr txBox="1"/>
          <p:nvPr/>
        </p:nvSpPr>
        <p:spPr>
          <a:xfrm>
            <a:off x="594360" y="194767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前提驗證</a:t>
            </a:r>
            <a:endParaRPr lang="zh-TW" sz="1500" dirty="0"/>
          </a:p>
        </p:txBody>
      </p:sp>
      <p:sp>
        <p:nvSpPr>
          <p:cNvPr id="7" name="text-287"/>
          <p:cNvSpPr txBox="1"/>
          <p:nvPr/>
        </p:nvSpPr>
        <p:spPr>
          <a:xfrm>
            <a:off x="594360" y="2377440"/>
            <a:ext cx="1207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問 IT、盤點 IDE 版本、實機驗證（特別是 VS 2022）</a:t>
            </a:r>
            <a:endParaRPr lang="zh-TW" sz="1300" dirty="0"/>
          </a:p>
        </p:txBody>
      </p:sp>
      <p:sp>
        <p:nvSpPr>
          <p:cNvPr id="8" name="text-288"/>
          <p:cNvSpPr txBox="1"/>
          <p:nvPr/>
        </p:nvSpPr>
        <p:spPr>
          <a:xfrm>
            <a:off x="457200" y="38679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accent5"/>
                </a:solidFill>
              </a:rPr>
              <a:t>產出</a:t>
            </a:r>
            <a:endParaRPr lang="zh-TW" sz="1100" dirty="0"/>
          </a:p>
        </p:txBody>
      </p:sp>
      <p:sp>
        <p:nvSpPr>
          <p:cNvPr id="9" name="text-289"/>
          <p:cNvSpPr txBox="1"/>
          <p:nvPr/>
        </p:nvSpPr>
        <p:spPr>
          <a:xfrm>
            <a:off x="457200" y="41239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驗證紀錄</a:t>
            </a:r>
            <a:endParaRPr lang="zh-TW" sz="1400" dirty="0"/>
          </a:p>
        </p:txBody>
      </p:sp>
      <p:sp>
        <p:nvSpPr>
          <p:cNvPr id="10" name="week-pill-290"/>
          <p:cNvSpPr/>
          <p:nvPr/>
        </p:nvSpPr>
        <p:spPr>
          <a:xfrm>
            <a:off x="2144268" y="1143000"/>
            <a:ext cx="148132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291"/>
          <p:cNvSpPr txBox="1"/>
          <p:nvPr/>
        </p:nvSpPr>
        <p:spPr>
          <a:xfrm>
            <a:off x="2144268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W2</a:t>
            </a:r>
            <a:endParaRPr lang="zh-TW" sz="1600" dirty="0"/>
          </a:p>
        </p:txBody>
      </p:sp>
      <p:sp>
        <p:nvSpPr>
          <p:cNvPr id="12" name="card-292"/>
          <p:cNvSpPr/>
          <p:nvPr/>
        </p:nvSpPr>
        <p:spPr>
          <a:xfrm>
            <a:off x="2144268" y="1783080"/>
            <a:ext cx="1481328" cy="19202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293"/>
          <p:cNvSpPr txBox="1"/>
          <p:nvPr/>
        </p:nvSpPr>
        <p:spPr>
          <a:xfrm>
            <a:off x="2281428" y="194767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建立 repo</a:t>
            </a:r>
            <a:endParaRPr lang="zh-TW" sz="1500" dirty="0"/>
          </a:p>
        </p:txBody>
      </p:sp>
      <p:sp>
        <p:nvSpPr>
          <p:cNvPr id="14" name="text-294"/>
          <p:cNvSpPr txBox="1"/>
          <p:nvPr/>
        </p:nvSpPr>
        <p:spPr>
          <a:xfrm>
            <a:off x="2281428" y="2377440"/>
            <a:ext cx="1207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權限與 CI、放入 2～3 個真正需要的 skill</a:t>
            </a:r>
            <a:endParaRPr lang="zh-TW" sz="1300" dirty="0"/>
          </a:p>
        </p:txBody>
      </p:sp>
      <p:sp>
        <p:nvSpPr>
          <p:cNvPr id="15" name="text-295"/>
          <p:cNvSpPr txBox="1"/>
          <p:nvPr/>
        </p:nvSpPr>
        <p:spPr>
          <a:xfrm>
            <a:off x="2144268" y="38679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accent5"/>
                </a:solidFill>
              </a:rPr>
              <a:t>產出</a:t>
            </a:r>
            <a:endParaRPr lang="zh-TW" sz="1100" dirty="0"/>
          </a:p>
        </p:txBody>
      </p:sp>
      <p:sp>
        <p:nvSpPr>
          <p:cNvPr id="16" name="text-296"/>
          <p:cNvSpPr txBox="1"/>
          <p:nvPr/>
        </p:nvSpPr>
        <p:spPr>
          <a:xfrm>
            <a:off x="2144268" y="41239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v1.0.0 發版</a:t>
            </a:r>
            <a:endParaRPr lang="zh-TW" sz="1400" dirty="0"/>
          </a:p>
        </p:txBody>
      </p:sp>
      <p:sp>
        <p:nvSpPr>
          <p:cNvPr id="17" name="week-pill-297"/>
          <p:cNvSpPr/>
          <p:nvPr/>
        </p:nvSpPr>
        <p:spPr>
          <a:xfrm>
            <a:off x="3831336" y="1143000"/>
            <a:ext cx="148132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298"/>
          <p:cNvSpPr txBox="1"/>
          <p:nvPr/>
        </p:nvSpPr>
        <p:spPr>
          <a:xfrm>
            <a:off x="3831336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W3</a:t>
            </a:r>
            <a:endParaRPr lang="zh-TW" sz="1600" dirty="0"/>
          </a:p>
        </p:txBody>
      </p:sp>
      <p:sp>
        <p:nvSpPr>
          <p:cNvPr id="19" name="card-299"/>
          <p:cNvSpPr/>
          <p:nvPr/>
        </p:nvSpPr>
        <p:spPr>
          <a:xfrm>
            <a:off x="3831336" y="1783080"/>
            <a:ext cx="1481328" cy="19202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300"/>
          <p:cNvSpPr txBox="1"/>
          <p:nvPr/>
        </p:nvSpPr>
        <p:spPr>
          <a:xfrm>
            <a:off x="3968496" y="194767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工具定版</a:t>
            </a:r>
            <a:endParaRPr lang="zh-TW" sz="1500" dirty="0"/>
          </a:p>
        </p:txBody>
      </p:sp>
      <p:sp>
        <p:nvSpPr>
          <p:cNvPr id="21" name="text-301"/>
          <p:cNvSpPr txBox="1"/>
          <p:nvPr/>
        </p:nvSpPr>
        <p:spPr>
          <a:xfrm>
            <a:off x="3968496" y="2377440"/>
            <a:ext cx="1207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跑完 19 項測試案例，調整公司環境設定</a:t>
            </a:r>
            <a:endParaRPr lang="zh-TW" sz="1300" dirty="0"/>
          </a:p>
        </p:txBody>
      </p:sp>
      <p:sp>
        <p:nvSpPr>
          <p:cNvPr id="22" name="text-302"/>
          <p:cNvSpPr txBox="1"/>
          <p:nvPr/>
        </p:nvSpPr>
        <p:spPr>
          <a:xfrm>
            <a:off x="3831336" y="38679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accent5"/>
                </a:solidFill>
              </a:rPr>
              <a:t>產出</a:t>
            </a:r>
            <a:endParaRPr lang="zh-TW" sz="1100" dirty="0"/>
          </a:p>
        </p:txBody>
      </p:sp>
      <p:sp>
        <p:nvSpPr>
          <p:cNvPr id="23" name="text-303"/>
          <p:cNvSpPr txBox="1"/>
          <p:nvPr/>
        </p:nvSpPr>
        <p:spPr>
          <a:xfrm>
            <a:off x="3831336" y="41239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測試紀錄</a:t>
            </a:r>
            <a:endParaRPr lang="zh-TW" sz="1400" dirty="0"/>
          </a:p>
        </p:txBody>
      </p:sp>
      <p:sp>
        <p:nvSpPr>
          <p:cNvPr id="24" name="week-pill-304"/>
          <p:cNvSpPr/>
          <p:nvPr/>
        </p:nvSpPr>
        <p:spPr>
          <a:xfrm>
            <a:off x="5518404" y="1143000"/>
            <a:ext cx="148132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305"/>
          <p:cNvSpPr txBox="1"/>
          <p:nvPr/>
        </p:nvSpPr>
        <p:spPr>
          <a:xfrm>
            <a:off x="5518404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W4</a:t>
            </a:r>
            <a:endParaRPr lang="zh-TW" sz="1600" dirty="0"/>
          </a:p>
        </p:txBody>
      </p:sp>
      <p:sp>
        <p:nvSpPr>
          <p:cNvPr id="26" name="card-306"/>
          <p:cNvSpPr/>
          <p:nvPr/>
        </p:nvSpPr>
        <p:spPr>
          <a:xfrm>
            <a:off x="5518404" y="1783080"/>
            <a:ext cx="1481328" cy="19202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-307"/>
          <p:cNvSpPr txBox="1"/>
          <p:nvPr/>
        </p:nvSpPr>
        <p:spPr>
          <a:xfrm>
            <a:off x="5655564" y="194767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開始試行</a:t>
            </a:r>
            <a:endParaRPr lang="zh-TW" sz="1500" dirty="0"/>
          </a:p>
        </p:txBody>
      </p:sp>
      <p:sp>
        <p:nvSpPr>
          <p:cNvPr id="28" name="text-308"/>
          <p:cNvSpPr txBox="1"/>
          <p:nvPr/>
        </p:nvSpPr>
        <p:spPr>
          <a:xfrm>
            <a:off x="5655564" y="2377440"/>
            <a:ext cx="1207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架設心跳收集與儀表板，3～5 人試用</a:t>
            </a:r>
            <a:endParaRPr lang="zh-TW" sz="1300" dirty="0"/>
          </a:p>
        </p:txBody>
      </p:sp>
      <p:sp>
        <p:nvSpPr>
          <p:cNvPr id="29" name="text-309"/>
          <p:cNvSpPr txBox="1"/>
          <p:nvPr/>
        </p:nvSpPr>
        <p:spPr>
          <a:xfrm>
            <a:off x="5518404" y="38679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accent5"/>
                </a:solidFill>
              </a:rPr>
              <a:t>產出</a:t>
            </a:r>
            <a:endParaRPr lang="zh-TW" sz="1100" dirty="0"/>
          </a:p>
        </p:txBody>
      </p:sp>
      <p:sp>
        <p:nvSpPr>
          <p:cNvPr id="30" name="text-310"/>
          <p:cNvSpPr txBox="1"/>
          <p:nvPr/>
        </p:nvSpPr>
        <p:spPr>
          <a:xfrm>
            <a:off x="5518404" y="41239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儀表板上線</a:t>
            </a:r>
            <a:endParaRPr lang="zh-TW" sz="1400" dirty="0"/>
          </a:p>
        </p:txBody>
      </p:sp>
      <p:sp>
        <p:nvSpPr>
          <p:cNvPr id="31" name="week-pill-311"/>
          <p:cNvSpPr/>
          <p:nvPr/>
        </p:nvSpPr>
        <p:spPr>
          <a:xfrm>
            <a:off x="7205472" y="1143000"/>
            <a:ext cx="148132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-312"/>
          <p:cNvSpPr txBox="1"/>
          <p:nvPr/>
        </p:nvSpPr>
        <p:spPr>
          <a:xfrm>
            <a:off x="7205472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W5</a:t>
            </a:r>
            <a:endParaRPr lang="zh-TW" sz="1600" dirty="0"/>
          </a:p>
        </p:txBody>
      </p:sp>
      <p:sp>
        <p:nvSpPr>
          <p:cNvPr id="33" name="card-313"/>
          <p:cNvSpPr/>
          <p:nvPr/>
        </p:nvSpPr>
        <p:spPr>
          <a:xfrm>
            <a:off x="7205472" y="1783080"/>
            <a:ext cx="1481328" cy="19202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-314"/>
          <p:cNvSpPr txBox="1"/>
          <p:nvPr/>
        </p:nvSpPr>
        <p:spPr>
          <a:xfrm>
            <a:off x="7342632" y="194767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結案提報</a:t>
            </a:r>
            <a:endParaRPr lang="zh-TW" sz="1500" dirty="0"/>
          </a:p>
        </p:txBody>
      </p:sp>
      <p:sp>
        <p:nvSpPr>
          <p:cNvPr id="35" name="text-315"/>
          <p:cNvSpPr txBox="1"/>
          <p:nvPr/>
        </p:nvSpPr>
        <p:spPr>
          <a:xfrm>
            <a:off x="7342632" y="2377440"/>
            <a:ext cx="1207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發版兩次、回滾演練、整理報告</a:t>
            </a:r>
            <a:endParaRPr lang="zh-TW" sz="1300" dirty="0"/>
          </a:p>
        </p:txBody>
      </p:sp>
      <p:sp>
        <p:nvSpPr>
          <p:cNvPr id="36" name="text-316"/>
          <p:cNvSpPr txBox="1"/>
          <p:nvPr/>
        </p:nvSpPr>
        <p:spPr>
          <a:xfrm>
            <a:off x="7205472" y="38679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accent5"/>
                </a:solidFill>
              </a:rPr>
              <a:t>產出</a:t>
            </a:r>
            <a:endParaRPr lang="zh-TW" sz="1100" dirty="0"/>
          </a:p>
        </p:txBody>
      </p:sp>
      <p:sp>
        <p:nvSpPr>
          <p:cNvPr id="37" name="text-317"/>
          <p:cNvSpPr txBox="1"/>
          <p:nvPr/>
        </p:nvSpPr>
        <p:spPr>
          <a:xfrm>
            <a:off x="7205472" y="41239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報告與 Demo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風險與對策</a:t>
            </a:r>
            <a:endParaRPr lang="en-US" sz="2800" dirty="0"/>
          </a:p>
        </p:txBody>
      </p:sp>
      <p:graphicFrame>
        <p:nvGraphicFramePr>
          <p:cNvPr id="16" name="table-3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風險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對策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VS 2022 可能不支援 skills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第一週優先驗證；不支援則評估升級 VS 2026，或先把關鍵規範放 copilot-instructions.md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公司限制 PowerShell 腳本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先問 IT；必要時對腳本簽章，或改用公司的軟體派送工具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防毒／EDR 攔截背景程式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事先報備；在儀表板監看同步失敗比例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GitLab 憑證過期，有人長期沒更新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儀表板標示同步失敗，一行指令即可重新登入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skill 品質不佳，誤導 Copilot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MR 審核＋beta 試用期；skill 內寫明不確定時要詢問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Demo 流程（約 8 分鐘）</a:t>
            </a:r>
            <a:endParaRPr lang="en-US" sz="2800" dirty="0"/>
          </a:p>
        </p:txBody>
      </p:sp>
      <p:sp>
        <p:nvSpPr>
          <p:cNvPr id="3" name="card-319"/>
          <p:cNvSpPr/>
          <p:nvPr/>
        </p:nvSpPr>
        <p:spPr>
          <a:xfrm>
            <a:off x="457200" y="1143000"/>
            <a:ext cx="3977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-bg-320"/>
          <p:cNvSpPr/>
          <p:nvPr/>
        </p:nvSpPr>
        <p:spPr>
          <a:xfrm>
            <a:off x="621792" y="12984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321"/>
          <p:cNvSpPr txBox="1"/>
          <p:nvPr/>
        </p:nvSpPr>
        <p:spPr>
          <a:xfrm>
            <a:off x="621792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zh-TW" sz="1400" dirty="0"/>
          </a:p>
        </p:txBody>
      </p:sp>
      <p:sp>
        <p:nvSpPr>
          <p:cNvPr id="6" name="text-322"/>
          <p:cNvSpPr txBox="1"/>
          <p:nvPr/>
        </p:nvSpPr>
        <p:spPr>
          <a:xfrm>
            <a:off x="1188720" y="1216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新人安裝</a:t>
            </a:r>
            <a:endParaRPr lang="zh-TW" sz="1400" dirty="0"/>
          </a:p>
        </p:txBody>
      </p:sp>
      <p:sp>
        <p:nvSpPr>
          <p:cNvPr id="7" name="text-323"/>
          <p:cNvSpPr txBox="1"/>
          <p:nvPr/>
        </p:nvSpPr>
        <p:spPr>
          <a:xfrm>
            <a:off x="1188720" y="1508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乾淨電腦執行 install.ps1，一分鐘內完成</a:t>
            </a:r>
            <a:endParaRPr lang="zh-TW" sz="1200" dirty="0"/>
          </a:p>
        </p:txBody>
      </p:sp>
      <p:sp>
        <p:nvSpPr>
          <p:cNvPr id="8" name="card-324"/>
          <p:cNvSpPr/>
          <p:nvPr/>
        </p:nvSpPr>
        <p:spPr>
          <a:xfrm>
            <a:off x="457200" y="1984248"/>
            <a:ext cx="3977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-bg-325"/>
          <p:cNvSpPr/>
          <p:nvPr/>
        </p:nvSpPr>
        <p:spPr>
          <a:xfrm>
            <a:off x="621792" y="213969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326"/>
          <p:cNvSpPr txBox="1"/>
          <p:nvPr/>
        </p:nvSpPr>
        <p:spPr>
          <a:xfrm>
            <a:off x="621792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zh-TW" sz="1400" dirty="0"/>
          </a:p>
        </p:txBody>
      </p:sp>
      <p:sp>
        <p:nvSpPr>
          <p:cNvPr id="11" name="text-327"/>
          <p:cNvSpPr txBox="1"/>
          <p:nvPr/>
        </p:nvSpPr>
        <p:spPr>
          <a:xfrm>
            <a:off x="1188720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VS Code 使用</a:t>
            </a:r>
            <a:endParaRPr lang="zh-TW" sz="1400" dirty="0"/>
          </a:p>
        </p:txBody>
      </p:sp>
      <p:sp>
        <p:nvSpPr>
          <p:cNvPr id="12" name="text-328"/>
          <p:cNvSpPr txBox="1"/>
          <p:nvPr/>
        </p:nvSpPr>
        <p:spPr>
          <a:xfrm>
            <a:off x="1188720" y="23500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輸入 /skills，請它寫 commit message</a:t>
            </a:r>
            <a:endParaRPr lang="zh-TW" sz="1200" dirty="0"/>
          </a:p>
        </p:txBody>
      </p:sp>
      <p:sp>
        <p:nvSpPr>
          <p:cNvPr id="13" name="card-329"/>
          <p:cNvSpPr/>
          <p:nvPr/>
        </p:nvSpPr>
        <p:spPr>
          <a:xfrm>
            <a:off x="457200" y="2825496"/>
            <a:ext cx="3977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-bg-330"/>
          <p:cNvSpPr/>
          <p:nvPr/>
        </p:nvSpPr>
        <p:spPr>
          <a:xfrm>
            <a:off x="621792" y="298094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331"/>
          <p:cNvSpPr txBox="1"/>
          <p:nvPr/>
        </p:nvSpPr>
        <p:spPr>
          <a:xfrm>
            <a:off x="621792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zh-TW" sz="1400" dirty="0"/>
          </a:p>
        </p:txBody>
      </p:sp>
      <p:sp>
        <p:nvSpPr>
          <p:cNvPr id="16" name="text-332"/>
          <p:cNvSpPr txBox="1"/>
          <p:nvPr/>
        </p:nvSpPr>
        <p:spPr>
          <a:xfrm>
            <a:off x="1188720" y="2898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Visual Studio 使用</a:t>
            </a:r>
            <a:endParaRPr lang="zh-TW" sz="1400" dirty="0"/>
          </a:p>
        </p:txBody>
      </p:sp>
      <p:sp>
        <p:nvSpPr>
          <p:cNvPr id="17" name="text-333"/>
          <p:cNvSpPr txBox="1"/>
          <p:nvPr/>
        </p:nvSpPr>
        <p:spPr>
          <a:xfrm>
            <a:off x="1188720" y="31912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問同樣的問題，同一份 skill</a:t>
            </a:r>
            <a:endParaRPr lang="zh-TW" sz="1200" dirty="0"/>
          </a:p>
        </p:txBody>
      </p:sp>
      <p:sp>
        <p:nvSpPr>
          <p:cNvPr id="18" name="card-334"/>
          <p:cNvSpPr/>
          <p:nvPr/>
        </p:nvSpPr>
        <p:spPr>
          <a:xfrm>
            <a:off x="457200" y="3666744"/>
            <a:ext cx="3977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-bg-335"/>
          <p:cNvSpPr/>
          <p:nvPr/>
        </p:nvSpPr>
        <p:spPr>
          <a:xfrm>
            <a:off x="621792" y="38221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336"/>
          <p:cNvSpPr txBox="1"/>
          <p:nvPr/>
        </p:nvSpPr>
        <p:spPr>
          <a:xfrm>
            <a:off x="62179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zh-TW" sz="1400" dirty="0"/>
          </a:p>
        </p:txBody>
      </p:sp>
      <p:sp>
        <p:nvSpPr>
          <p:cNvPr id="21" name="text-337"/>
          <p:cNvSpPr txBox="1"/>
          <p:nvPr/>
        </p:nvSpPr>
        <p:spPr>
          <a:xfrm>
            <a:off x="1188720" y="3739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正式發版</a:t>
            </a:r>
            <a:endParaRPr lang="zh-TW" sz="1400" dirty="0"/>
          </a:p>
        </p:txBody>
      </p:sp>
      <p:sp>
        <p:nvSpPr>
          <p:cNvPr id="22" name="text-338"/>
          <p:cNvSpPr txBox="1"/>
          <p:nvPr/>
        </p:nvSpPr>
        <p:spPr>
          <a:xfrm>
            <a:off x="1188720" y="40325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合併 MR、打 tag v1.1.0</a:t>
            </a:r>
            <a:endParaRPr lang="zh-TW" sz="1200" dirty="0"/>
          </a:p>
        </p:txBody>
      </p:sp>
      <p:sp>
        <p:nvSpPr>
          <p:cNvPr id="23" name="card-339"/>
          <p:cNvSpPr/>
          <p:nvPr/>
        </p:nvSpPr>
        <p:spPr>
          <a:xfrm>
            <a:off x="4709160" y="1143000"/>
            <a:ext cx="3977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-bg-340"/>
          <p:cNvSpPr/>
          <p:nvPr/>
        </p:nvSpPr>
        <p:spPr>
          <a:xfrm>
            <a:off x="4873752" y="12984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341"/>
          <p:cNvSpPr txBox="1"/>
          <p:nvPr/>
        </p:nvSpPr>
        <p:spPr>
          <a:xfrm>
            <a:off x="4873752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zh-TW" sz="1400" dirty="0"/>
          </a:p>
        </p:txBody>
      </p:sp>
      <p:sp>
        <p:nvSpPr>
          <p:cNvPr id="26" name="text-342"/>
          <p:cNvSpPr txBox="1"/>
          <p:nvPr/>
        </p:nvSpPr>
        <p:spPr>
          <a:xfrm>
            <a:off x="5440680" y="1216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自動更新</a:t>
            </a:r>
            <a:endParaRPr lang="zh-TW" sz="1400" dirty="0"/>
          </a:p>
        </p:txBody>
      </p:sp>
      <p:sp>
        <p:nvSpPr>
          <p:cNvPr id="27" name="text-343"/>
          <p:cNvSpPr txBox="1"/>
          <p:nvPr/>
        </p:nvSpPr>
        <p:spPr>
          <a:xfrm>
            <a:off x="5440680" y="1508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觸發排程，日誌顯示 updated</a:t>
            </a:r>
            <a:endParaRPr lang="zh-TW" sz="1200" dirty="0"/>
          </a:p>
        </p:txBody>
      </p:sp>
      <p:sp>
        <p:nvSpPr>
          <p:cNvPr id="28" name="card-344"/>
          <p:cNvSpPr/>
          <p:nvPr/>
        </p:nvSpPr>
        <p:spPr>
          <a:xfrm>
            <a:off x="4709160" y="1984248"/>
            <a:ext cx="3977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-bg-345"/>
          <p:cNvSpPr/>
          <p:nvPr/>
        </p:nvSpPr>
        <p:spPr>
          <a:xfrm>
            <a:off x="4873752" y="213969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-346"/>
          <p:cNvSpPr txBox="1"/>
          <p:nvPr/>
        </p:nvSpPr>
        <p:spPr>
          <a:xfrm>
            <a:off x="4873752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6</a:t>
            </a:r>
            <a:endParaRPr lang="zh-TW" sz="1400" dirty="0"/>
          </a:p>
        </p:txBody>
      </p:sp>
      <p:sp>
        <p:nvSpPr>
          <p:cNvPr id="31" name="text-347"/>
          <p:cNvSpPr txBox="1"/>
          <p:nvPr/>
        </p:nvSpPr>
        <p:spPr>
          <a:xfrm>
            <a:off x="5440680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看儀表板</a:t>
            </a:r>
            <a:endParaRPr lang="zh-TW" sz="1400" dirty="0"/>
          </a:p>
        </p:txBody>
      </p:sp>
      <p:sp>
        <p:nvSpPr>
          <p:cNvPr id="32" name="text-348"/>
          <p:cNvSpPr txBox="1"/>
          <p:nvPr/>
        </p:nvSpPr>
        <p:spPr>
          <a:xfrm>
            <a:off x="5440680" y="23500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落後、同步失敗、未安裝一目了然</a:t>
            </a:r>
            <a:endParaRPr lang="zh-TW" sz="1200" dirty="0"/>
          </a:p>
        </p:txBody>
      </p:sp>
      <p:sp>
        <p:nvSpPr>
          <p:cNvPr id="33" name="card-349"/>
          <p:cNvSpPr/>
          <p:nvPr/>
        </p:nvSpPr>
        <p:spPr>
          <a:xfrm>
            <a:off x="4709160" y="2825496"/>
            <a:ext cx="3977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num-bg-350"/>
          <p:cNvSpPr/>
          <p:nvPr/>
        </p:nvSpPr>
        <p:spPr>
          <a:xfrm>
            <a:off x="4873752" y="298094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-351"/>
          <p:cNvSpPr txBox="1"/>
          <p:nvPr/>
        </p:nvSpPr>
        <p:spPr>
          <a:xfrm>
            <a:off x="4873752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7</a:t>
            </a:r>
            <a:endParaRPr lang="zh-TW" sz="1400" dirty="0"/>
          </a:p>
        </p:txBody>
      </p:sp>
      <p:sp>
        <p:nvSpPr>
          <p:cNvPr id="36" name="text-352"/>
          <p:cNvSpPr txBox="1"/>
          <p:nvPr/>
        </p:nvSpPr>
        <p:spPr>
          <a:xfrm>
            <a:off x="5440680" y="2898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本機修改</a:t>
            </a:r>
            <a:endParaRPr lang="zh-TW" sz="1400" dirty="0"/>
          </a:p>
        </p:txBody>
      </p:sp>
      <p:sp>
        <p:nvSpPr>
          <p:cNvPr id="37" name="text-353"/>
          <p:cNvSpPr txBox="1"/>
          <p:nvPr/>
        </p:nvSpPr>
        <p:spPr>
          <a:xfrm>
            <a:off x="5440680" y="31912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改共用 skill 後同步：還原、備份、回報</a:t>
            </a:r>
            <a:endParaRPr lang="zh-TW" sz="1200" dirty="0"/>
          </a:p>
        </p:txBody>
      </p:sp>
      <p:sp>
        <p:nvSpPr>
          <p:cNvPr id="38" name="card-354"/>
          <p:cNvSpPr/>
          <p:nvPr/>
        </p:nvSpPr>
        <p:spPr>
          <a:xfrm>
            <a:off x="4709160" y="3666744"/>
            <a:ext cx="3977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num-bg-355"/>
          <p:cNvSpPr/>
          <p:nvPr/>
        </p:nvSpPr>
        <p:spPr>
          <a:xfrm>
            <a:off x="4873752" y="38221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-356"/>
          <p:cNvSpPr txBox="1"/>
          <p:nvPr/>
        </p:nvSpPr>
        <p:spPr>
          <a:xfrm>
            <a:off x="487375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8</a:t>
            </a:r>
            <a:endParaRPr lang="zh-TW" sz="1400" dirty="0"/>
          </a:p>
        </p:txBody>
      </p:sp>
      <p:sp>
        <p:nvSpPr>
          <p:cNvPr id="41" name="text-357"/>
          <p:cNvSpPr txBox="1"/>
          <p:nvPr/>
        </p:nvSpPr>
        <p:spPr>
          <a:xfrm>
            <a:off x="5440680" y="3739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回滾</a:t>
            </a:r>
            <a:endParaRPr lang="zh-TW" sz="1400" dirty="0"/>
          </a:p>
        </p:txBody>
      </p:sp>
      <p:sp>
        <p:nvSpPr>
          <p:cNvPr id="42" name="text-358"/>
          <p:cNvSpPr txBox="1"/>
          <p:nvPr/>
        </p:nvSpPr>
        <p:spPr>
          <a:xfrm>
            <a:off x="5440680" y="40325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5"/>
                </a:solidFill>
              </a:rPr>
              <a:t>設定釘選版本，退回上一版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需要的支援與下一步</a:t>
            </a:r>
            <a:endParaRPr lang="en-US" sz="2800" dirty="0"/>
          </a:p>
        </p:txBody>
      </p:sp>
      <p:sp>
        <p:nvSpPr>
          <p:cNvPr id="3" name="icon-bg-359"/>
          <p:cNvSpPr/>
          <p:nvPr/>
        </p:nvSpPr>
        <p:spPr>
          <a:xfrm>
            <a:off x="457200" y="1143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-36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539" y="1248339"/>
            <a:ext cx="228234" cy="228234"/>
          </a:xfrm>
          <a:prstGeom prst="rect">
            <a:avLst/>
          </a:prstGeom>
        </p:spPr>
      </p:pic>
      <p:sp>
        <p:nvSpPr>
          <p:cNvPr id="5" name="text-361"/>
          <p:cNvSpPr txBox="1"/>
          <p:nvPr/>
        </p:nvSpPr>
        <p:spPr>
          <a:xfrm>
            <a:off x="1097280" y="11430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指定 2～3 位 Skills 維護者</a:t>
            </a:r>
            <a:endParaRPr lang="zh-TW" sz="1500" dirty="0"/>
          </a:p>
        </p:txBody>
      </p:sp>
      <p:sp>
        <p:nvSpPr>
          <p:cNvPr id="6" name="icon-bg-362"/>
          <p:cNvSpPr/>
          <p:nvPr/>
        </p:nvSpPr>
        <p:spPr>
          <a:xfrm>
            <a:off x="457200" y="176479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36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9" y="1870131"/>
            <a:ext cx="228234" cy="228234"/>
          </a:xfrm>
          <a:prstGeom prst="rect">
            <a:avLst/>
          </a:prstGeom>
        </p:spPr>
      </p:pic>
      <p:sp>
        <p:nvSpPr>
          <p:cNvPr id="8" name="text-364"/>
          <p:cNvSpPr txBox="1"/>
          <p:nvPr/>
        </p:nvSpPr>
        <p:spPr>
          <a:xfrm>
            <a:off x="1097280" y="176479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一個全課可寫入的共用資料夾，或一台內部小伺服器</a:t>
            </a:r>
            <a:endParaRPr lang="zh-TW" sz="1500" dirty="0"/>
          </a:p>
        </p:txBody>
      </p:sp>
      <p:sp>
        <p:nvSpPr>
          <p:cNvPr id="9" name="icon-bg-365"/>
          <p:cNvSpPr/>
          <p:nvPr/>
        </p:nvSpPr>
        <p:spPr>
          <a:xfrm>
            <a:off x="457200" y="23865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3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39" y="2491923"/>
            <a:ext cx="228234" cy="228234"/>
          </a:xfrm>
          <a:prstGeom prst="rect">
            <a:avLst/>
          </a:prstGeom>
        </p:spPr>
      </p:pic>
      <p:sp>
        <p:nvSpPr>
          <p:cNvPr id="11" name="text-367"/>
          <p:cNvSpPr txBox="1"/>
          <p:nvPr/>
        </p:nvSpPr>
        <p:spPr>
          <a:xfrm>
            <a:off x="1097280" y="238658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建立 GitLab 專案 cim-copilot-skills</a:t>
            </a:r>
            <a:endParaRPr lang="zh-TW" sz="1500" dirty="0"/>
          </a:p>
        </p:txBody>
      </p:sp>
      <p:sp>
        <p:nvSpPr>
          <p:cNvPr id="12" name="icon-bg-368"/>
          <p:cNvSpPr/>
          <p:nvPr/>
        </p:nvSpPr>
        <p:spPr>
          <a:xfrm>
            <a:off x="457200" y="3008376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36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39" y="3113715"/>
            <a:ext cx="228234" cy="228234"/>
          </a:xfrm>
          <a:prstGeom prst="rect">
            <a:avLst/>
          </a:prstGeom>
        </p:spPr>
      </p:pic>
      <p:sp>
        <p:nvSpPr>
          <p:cNvPr id="14" name="text-370"/>
          <p:cNvSpPr txBox="1"/>
          <p:nvPr/>
        </p:nvSpPr>
        <p:spPr>
          <a:xfrm>
            <a:off x="1097280" y="300837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3～5 位試行成員（含 VS 與 VS Code 使用者）</a:t>
            </a:r>
            <a:endParaRPr lang="zh-TW" sz="1500" dirty="0"/>
          </a:p>
        </p:txBody>
      </p:sp>
      <p:sp>
        <p:nvSpPr>
          <p:cNvPr id="15" name="icon-bg-371"/>
          <p:cNvSpPr/>
          <p:nvPr/>
        </p:nvSpPr>
        <p:spPr>
          <a:xfrm>
            <a:off x="457200" y="363016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37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39" y="3735507"/>
            <a:ext cx="228234" cy="228234"/>
          </a:xfrm>
          <a:prstGeom prst="rect">
            <a:avLst/>
          </a:prstGeom>
        </p:spPr>
      </p:pic>
      <p:sp>
        <p:nvSpPr>
          <p:cNvPr id="17" name="text-373"/>
          <p:cNvSpPr txBox="1"/>
          <p:nvPr/>
        </p:nvSpPr>
        <p:spPr>
          <a:xfrm>
            <a:off x="1097280" y="36301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IT 確認 PowerShell 執行原則、工作排程與防毒</a:t>
            </a:r>
            <a:endParaRPr lang="zh-TW" sz="1500" dirty="0"/>
          </a:p>
        </p:txBody>
      </p:sp>
      <p:sp>
        <p:nvSpPr>
          <p:cNvPr id="18" name="card-374"/>
          <p:cNvSpPr/>
          <p:nvPr/>
        </p:nvSpPr>
        <p:spPr>
          <a:xfrm>
            <a:off x="5897880" y="1143000"/>
            <a:ext cx="2788920" cy="2926080"/>
          </a:xfrm>
          <a:prstGeom prst="roundRect">
            <a:avLst>
              <a:gd name="adj" fmla="val 262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-375"/>
          <p:cNvSpPr txBox="1"/>
          <p:nvPr/>
        </p:nvSpPr>
        <p:spPr>
          <a:xfrm>
            <a:off x="612648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下一步</a:t>
            </a:r>
            <a:endParaRPr lang="zh-TW" sz="1800" dirty="0"/>
          </a:p>
        </p:txBody>
      </p:sp>
      <p:sp>
        <p:nvSpPr>
          <p:cNvPr id="20" name="text-376"/>
          <p:cNvSpPr txBox="1"/>
          <p:nvPr/>
        </p:nvSpPr>
        <p:spPr>
          <a:xfrm>
            <a:off x="6126480" y="17830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核准後第一週完成前提驗證，第五週提出試行結果與正式導入建議</a:t>
            </a:r>
            <a:endParaRPr lang="zh-TW" sz="1500" dirty="0"/>
          </a:p>
        </p:txBody>
      </p:sp>
      <p:sp>
        <p:nvSpPr>
          <p:cNvPr id="21" name="text-377"/>
          <p:cNvSpPr txBox="1"/>
          <p:nvPr/>
        </p:nvSpPr>
        <p:spPr>
          <a:xfrm>
            <a:off x="612648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600" b="1" dirty="0">
                <a:solidFill>
                  <a:schemeClr val="accent2"/>
                </a:solidFill>
              </a:rPr>
              <a:t>Q &amp; A</a:t>
            </a:r>
            <a:endParaRPr lang="zh-TW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M Skills">
  <a:themeElements>
    <a:clrScheme name="CIM Skills">
      <a:dk1>
        <a:srgbClr val="1B2430"/>
      </a:dk1>
      <a:lt1>
        <a:srgbClr val="FFFFFF"/>
      </a:lt1>
      <a:dk2>
        <a:srgbClr val="0E3B43"/>
      </a:dk2>
      <a:lt2>
        <a:srgbClr val="EAF2F1"/>
      </a:lt2>
      <a:accent1>
        <a:srgbClr val="0F8B8D"/>
      </a:accent1>
      <a:accent2>
        <a:srgbClr val="E59F3A"/>
      </a:accent2>
      <a:accent3>
        <a:srgbClr val="C8464F"/>
      </a:accent3>
      <a:accent4>
        <a:srgbClr val="3E8E5B"/>
      </a:accent4>
      <a:accent5>
        <a:srgbClr val="6B7785"/>
      </a:accent5>
      <a:accent6>
        <a:srgbClr val="2E5E7E"/>
      </a:accent6>
      <a:hlink>
        <a:srgbClr val="0F8B8D"/>
      </a:hlink>
      <a:folHlink>
        <a:srgbClr val="6B7785"/>
      </a:folHlink>
    </a:clrScheme>
    <a:fontScheme name="CIM Skills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Skills 課級共用與集中管理機制</dc:title>
  <dc:subject>研究結果與 POC 提案</dc:subject>
  <dc:creator>CIM 課</dc:creator>
  <cp:lastModifiedBy>CIM 課</cp:lastModifiedBy>
  <cp:revision>1</cp:revision>
  <dcterms:created xsi:type="dcterms:W3CDTF">2026-10-12T15:26:45Z</dcterms:created>
  <dcterms:modified xsi:type="dcterms:W3CDTF">2026-10-12T15:26:45Z</dcterms:modified>
</cp:coreProperties>
</file>